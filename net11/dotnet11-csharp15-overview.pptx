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308" r:id="rId59"/>
    <p:sldId id="257" r:id="rId3"/>
    <p:sldId id="258" r:id="rId4"/>
    <p:sldId id="309" r:id="rId60"/>
    <p:sldId id="263" r:id="rId9"/>
    <p:sldId id="264" r:id="rId10"/>
    <p:sldId id="269" r:id="rId15"/>
    <p:sldId id="270" r:id="rId16"/>
    <p:sldId id="271" r:id="rId17"/>
    <p:sldId id="310" r:id="rId61"/>
    <p:sldId id="272" r:id="rId18"/>
    <p:sldId id="273" r:id="rId19"/>
    <p:sldId id="274" r:id="rId20"/>
    <p:sldId id="275" r:id="rId21"/>
    <p:sldId id="276" r:id="rId22"/>
    <p:sldId id="311" r:id="rId62"/>
    <p:sldId id="280" r:id="rId26"/>
    <p:sldId id="281" r:id="rId27"/>
    <p:sldId id="283" r:id="rId29"/>
    <p:sldId id="286" r:id="rId32"/>
    <p:sldId id="312" r:id="rId63"/>
    <p:sldId id="289" r:id="rId35"/>
    <p:sldId id="290" r:id="rId36"/>
    <p:sldId id="292" r:id="rId38"/>
    <p:sldId id="293" r:id="rId39"/>
    <p:sldId id="313" r:id="rId64"/>
    <p:sldId id="294" r:id="rId40"/>
    <p:sldId id="296" r:id="rId42"/>
    <p:sldId id="314" r:id="rId65"/>
    <p:sldId id="301" r:id="rId47"/>
    <p:sldId id="302" r:id="rId48"/>
    <p:sldId id="315" r:id="rId66"/>
    <p:sldId id="307"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30" autoAdjust="0"/>
  </p:normalViewPr>
  <p:slideViewPr>
    <p:cSldViewPr snapToGrid="0" snapToObjects="1">
      <p:cViewPr varScale="1">
        <p:scale>
          <a:sx n="112" d="100"/>
          <a:sy n="112" d="100"/>
        </p:scale>
        <p:origin x="976"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5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32" Type="http://schemas.openxmlformats.org/officeDocument/2006/relationships/slide" Target="slides/slide31.xml"/><Relationship Id="rId40" Type="http://schemas.openxmlformats.org/officeDocument/2006/relationships/slide" Target="slides/slide39.xml"/><Relationship Id="rId53" Type="http://schemas.openxmlformats.org/officeDocument/2006/relationships/slide" Target="slides/slide52.xml"/><Relationship Id="rId58"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slide" Target="slides/slide34.xml"/><Relationship Id="rId48" Type="http://schemas.openxmlformats.org/officeDocument/2006/relationships/slide" Target="slides/slide47.xml"/><Relationship Id="rId56" Type="http://schemas.openxmlformats.org/officeDocument/2006/relationships/viewProps" Target="viewProps.xml"/><Relationship Id="rId3" Type="http://schemas.openxmlformats.org/officeDocument/2006/relationships/slide" Target="slides/slide2.xml"/><Relationship Id="rId17" Type="http://schemas.openxmlformats.org/officeDocument/2006/relationships/slide" Target="slides/slide16.xml"/><Relationship Id="rId38" Type="http://schemas.openxmlformats.org/officeDocument/2006/relationships/slide" Target="slides/slide37.xml"/><Relationship Id="rId20" Type="http://schemas.openxmlformats.org/officeDocument/2006/relationships/slide" Target="slides/slide19.xml"/><Relationship Id="rId54" Type="http://schemas.openxmlformats.org/officeDocument/2006/relationships/notesMaster" Target="notesMasters/notesMaster1.xml"/><Relationship Id="rId1" Type="http://schemas.openxmlformats.org/officeDocument/2006/relationships/slideMaster" Target="slideMasters/slide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theme" Target="theme/theme1.xml"/><Relationship Id="rId10" Type="http://schemas.openxmlformats.org/officeDocument/2006/relationships/slide" Target="slides/slide9.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498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Цей огляд проходить по всьому стеку .NET 11: рантайм, базові бібліотеки та SDK, мова C# 15, ASP.NET Core, Blazor, EF Core та .NET MAUI. Кожен розділ починається з одного оглядового слайда, де перелічено всі нововведення, а далі детально розбираємо лише найцікавіші для щоденної роботи.</a:t>
            </a:r>
          </a:p>
          <a:p>
            <a:r>
              <a:t>Головні теми релізу: асинхронність, яку тепер реалізує сам рантайм (Runtime Async), алгебраїчні типи в C# 15 (union та closed), асинхронна валідація від DataAnnotations до Blazor, OpenAPI 3.2 в ASP.NET Core, комплексні типи в EF Core та перехід MAUI на CoreCLR.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Runtime Async - найбільша архітектурна зміна .NET 11. Починаючи з C# 5, async та await були чисто компіляторною магією: Roslyn переписував кожен асинхронний метод у згенерований клас або структуру скінченного автомата з методом MoveNext, великим switch і полями для локальних змінних. Це працювало надійно, але роздувало IL, заважало JIT-оптимізаціям і створювало додаткові алокації між асинхронними кадрами.</a:t>
            </a:r>
          </a:p>
          <a:p>
            <a:r>
              <a:t>У .NET 11 відповідальність за призупинення та відновлення асинхронних методів переходить до самого рантайму CoreCLR. Компілятор більше не генерує автомат станів: метод компілюється як звичайний лінійний код із точками призупинення, якими керує віртуальна машина.</a:t>
            </a:r>
          </a:p>
          <a:p>
            <a:r>
              <a:t>Важливо для команди: вихідний код не змінюється, async та await пишуться так само. Уся базова бібліотека .NET 11 і ASP.NET Core вже зібрані в цьому режимі, тож частину переваг ви отримуєте просто від оновлення таргету. Для власних збірок режим вмикається одним рядком у файлі проекту. Рекомендований шлях: увімкнути його спочатку в одному сервісі, прогнати навантажувальні тести та порівняти метрики алокацій і латентності, а потім поширити на решту рішення.</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Практичні переваги Runtime Async видно у двох місцях: у діагностиці та у швидкодії.</a:t>
            </a:r>
          </a:p>
          <a:p>
            <a:r>
              <a:t>Діагностика. Раніше в стек-трейсі глибокого асинхронного ланцюжка OuterAsync, MiddleAsync, InnerAsync кожен рівень з'являвся кілька разів через службові кадри AsyncMethodBuilderCore.Start. З Runtime Async стек виглядає як у синхронному коді: лише реальні методи та точні номери рядків. Це помітно спрощує розбір інцидентів за логами, Application Insights чи дампами, і саме цю зміну розробники відчують першою.</a:t>
            </a:r>
          </a:p>
          <a:p>
            <a:r>
              <a:t>Швидкодія. Рантайм не копіює ExecutionContext під час планування продовження, якщо в потоці немає значень AsyncLocal, а це економить роботу на кожному await. JIT об'єднує однакові хвостові точки призупинення і генерує менше машинного коду, а інтринсики для фабрик Task і ValueTask разом із неявними хвостовими викликами прискорюють гарячі шляхи ще на етапі tiered compilation.</a:t>
            </a:r>
          </a:p>
          <a:p>
            <a:r>
              <a:t>Порада: якщо у вас є інструменти, які парсять стек-трейси або групують помилки за кадрами (наприклад, правила алертингу), перевірте їх після ввімкнення режиму, бо формат стеку стане коротшим.</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Клас System.Diagnostics.Process роками був однією з найнезручніших частин BCL. Щоб запустити git, docker чи ffmpeg, прочитати вивід і дізнатися код завершення, доводилося писати десятки рядків: налаштувати ProcessStartInfo, перенаправити потоки, підписатися на OutputDataReceived і правильно все синхронізувати. Класична помилка - читати stdout і stderr послідовно: при переповненні буфера пайпа процес зависає у взаємному блокуванні.</a:t>
            </a:r>
          </a:p>
          <a:p>
            <a:r>
              <a:t>У .NET 11 це вирішується одним викликом. Process.RunAsync запускає процес і повертає статус виходу, а RunAndCaptureTextAsync додатково паралельно і без блокувань збирає stdout і stderr та повертає їх у структурі ProcessTextOutput. Для довгих процесів, як-от збірка чи міграції, є ReadAllLinesAsync: він віддає вивід рядок за рядком як асинхронний потік і для кожного рядка вказує джерело.</a:t>
            </a:r>
          </a:p>
          <a:p>
            <a:r>
              <a:t>Практичне застосування: CLI-утиліти, скрипти автоматизації на C#, інтеграційні тести, які запускають зовнішні інструменти, та бекенд-сервіси, що викликають конвертери файлів. Якщо у вашому коді є власні хелпери-обгортки над Process, їх варто замінити на нові методи.</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Друга частина оновлень Process стосується керування життєвим циклом дочірніх процесів. Раніше для цього потрібен був платформний код через P/Invoke до Win32 або libc, тепер усе доступне в стандартному API. Пройдемося списком.</a:t>
            </a:r>
          </a:p>
          <a:p>
            <a:r>
              <a:t>StartAndForget запускає процес і одразу звільняє системний дескриптор, тож дескриптори не витікають. StartDetached відв'язує процес від сесії термінала батька, щоб фоновий демон працював і після закриття консолі. KillOnParentExit на Windows прив'язує дочірній процес до Job Object: якщо головний процес впаде або його вб'ють, ОС завершить і дочірні воркери, тож зависли процеси-сироти, що тримають файли, більше не залишаються.</a:t>
            </a:r>
          </a:p>
          <a:p>
            <a:r>
              <a:t>Process.Signal дозволяє коректно надіслати POSIX-сигнал, наприклад SIGTERM для м'якої зупинки в Linux-контейнері, а ProcessExitStatus показує не лише код виходу, а й сигнал, яким процес було завершено.</a:t>
            </a:r>
          </a:p>
          <a:p>
            <a:r>
              <a:t>StartSuspended створює процес у замороженому стані на Windows і macOS: образ завантажено, але перша інструкція ще не виконана, доки ви не викличете SafeHandle.Resume. Це потрібно профайлерам, тест-раннерам і пісочницям, які мають налаштувати процес до старту. Нарешті, TryGetProcessById та SafeProcessHandle.TryOpen перевіряють існування процесу без дорогого винятку ArgumentException, що корисно в моніторингу, який опитує процеси за PID.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Майже двадцять років у LINQ не було простого зовнішнього з'єднання. Щоб зробити аналог SQL LEFT JOIN у пам'яті, писали GroupJoin, потім SelectMany і DefaultIfEmpty. Такий код важко читати і легко зламати під час рефакторингу, а для FULL JOIN доводилося вигадувати ще складніші комбінації з Union.</a:t>
            </a:r>
          </a:p>
          <a:p>
            <a:r>
              <a:t>У .NET 11 LINQ отримав повний набір: LeftJoin, RightJoin і новий FullJoin, причому одразу для IEnumerable, IQueryable та IAsyncEnumerable. Найзручніше те, що без селектора результату оператори повертають кортеж із лівого та правого елемента, тож його можна деконструювати прямо в заголовку foreach або використати в pattern matching. FullJoin зберігає елементи з обох послідовностей і підставляє default там, де пари немає.</a:t>
            </a:r>
          </a:p>
          <a:p>
            <a:r>
              <a:t>Що це дає команді: звірки двох джерел даних (наприклад, записи з бази проти файлу імпорту), звіти з розбіжностями, синхронізація довідників. Усе це тепер пишеться в один читабельний вираз. Варто додати правило код-рев'ю: нові left join писати через LeftJoin, а старі конструкції GroupJoin/SelectMany/DefaultIfEmpty поступово замінювати. Як ці оператори транслюються в SQL, подивимося в розділі EF Core.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System.ComponentModel.DataAnnotations - основа декларативної валідації в усьому .NET, але до .NET 11 вона була лише синхронною. Якщо правило вимагало звернутися до бази (унікальність email) або до зовнішнього сервісу (податковий номер у державному реєстрі), стандартні атрибути не підходили. Доводилося або блокувати потік через .Result, тобто робити антипатерн sync-over-async, або виносити перевірку в окремий шар поза моделлю.</a:t>
            </a:r>
          </a:p>
          <a:p>
            <a:r>
              <a:t>У .NET 11 є повний асинхронний контур. Базовий клас AsyncValidationAttribute має метод IsValidAsync з CancellationToken і доступом до DI через ValidationContext. Для перевірок на рівні всього об'єкта, коли правило залежить від кількох полів, є IAsyncValidatableObject, а Validator.ValidateObjectAsync запускає всі правила разом. Для валідації конфігурації під час старту сервісу додано IAsyncStartupValidator.</a:t>
            </a:r>
          </a:p>
          <a:p>
            <a:r>
              <a:t>Ключова цінність у тому, що правило пишеться один раз і працює всюди: в Minimal APIs, у формах Blazor EditForm і при валідації Options. Як саме це підключається в ASP.NET Core і Blazor, покажемо на відповідних слайдах. Практична порада: асинхронні правила мають бути швидкими та ідемпотентними, обов'язково поважати CancellationToken і не робити запитів, які змінюють стан.</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SDK .NET 11 став швидшим і зручнішим для легких сценаріїв.</a:t>
            </a:r>
          </a:p>
          <a:p>
            <a:r>
              <a:t>Файлові програми (file-based apps), тобто запуск .cs-файлу без проекту, отримали директиву #:include. Скрипт автоматизації можна розбити на кілька файлів (окремо моделі, окремо хелпери) і навіть підключити готову .dll, не створюючи .csproj. Це робить C# реальною альтернативою PowerShell чи Python для внутрішніх утиліт команди.</a:t>
            </a:r>
          </a:p>
          <a:p>
            <a:r>
              <a:t>Сама утиліта dotnet тепер стартує через точку входу, скомпільовану в Native AOT, тож команди на кшталт --help та делеговані виклики інструментів відповідають помітно швидше. dotnet run отримав прапорець -e для передачі змінних оточення, а dotnet test показує тести, які виконуються зараз, і підтримує таймаут та ліміт кількості падінь. Ліміт корисний у CI, щоб не чекати повного прогону, коли збірка вже очевидно зламана. Запуск тестів на мобільних пристроях розглянемо в розділі MAUI.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Перша з них - аргументи колекційних виразів. Коли в C# 12 з'явився синтаксис квадратних дужок, виник неприємний компроміс: усередині виразу не можна було задати початкову ємність або власний компаратор. У результаті у високонавантаженому коді чи при роботі з регістронезалежними ключами доводилося повертатися до new List&lt;T&gt;(capacity) чи new HashSet&lt;string&gt;(comparer), і в одному файлі змішувалися два стилі.</a:t>
            </a:r>
          </a:p>
          <a:p>
            <a:r>
              <a:t>У C# 15 з'явився елемент with(...), який ставиться першим усередині дужок. Компілятор передає його аргументи у відповідний конструктор або фабричний метод цільової колекції. Так можна одразу виділити список потрібного розміру або створити регістронезалежну множину чи словник, не виходячи з колекційного синтаксису.</a:t>
            </a:r>
          </a:p>
          <a:p>
            <a:r>
              <a:t>Практичний сценарій: словники з ключами-рядками з зовнішніх систем, де регістр не гарантований, і великі списки, розмір яких відомий заздалегідь. Аналізатори IDE пропонуватимуть перейти на колекційні вирази і там, де раніше це було неможливо через аргументи конструктора.</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Розмічені об'єднання (discriminated unions) понад десять років були найбажанішою функцією в репозиторії csharplang. Розробники знають їх з F#, Rust чи TypeScript, а в C# їх імітували через ієрархії класів, бібліотеку OneOf або набори nullable-полів.</a:t>
            </a:r>
          </a:p>
          <a:p>
            <a:r>
              <a:t>У C# 15 з'явилося ключове слово union. Тип-об'єднання в кожен момент містить значення рівно одного з перелічених типів-варіантів. Оголошення займає один рядок, а компілятор генерує неявні перетворення з кожного варіанту, тож Dog можна передати туди, де очікують Pet, або повернути з методу будь-який із варіантів без ручного пакування.</a:t>
            </a:r>
          </a:p>
          <a:p>
            <a:r>
              <a:t>Головна цінність - вичерпність. Коли в switch оброблено всі варіанти, гілка за замовчуванням не потрібна. Якщо пізніше до об'єднання додадуть новий варіант, компілятор підсвітить кожен switch, який його не обробляє. Помилка, яку раніше знаходили в продакшні, тепер ловиться під час збірки.</a:t>
            </a:r>
          </a:p>
          <a:p>
            <a:r>
              <a:t>Де застосовувати в першу чергу: результати операцій замість винятків для очікуваних помилок (успіх або доменна помилка), повідомлення в обробниках подій, стани в UI. Підтримка є на рівні платформи: серіалізація в System.Text.Json, опис у OpenAPI та повернення з ендпоінтів ASP.NET Core, про що поговоримо в розділі про веб.</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Другий інструмент алгебраїчного моделювання в C# 15 - закриті ієрархії з модифікатором closed.</a:t>
            </a:r>
          </a:p>
          <a:p>
            <a:r>
              <a:t>Проблема відома всім, хто моделював стани чи результати через абстрактний базовий клас і набір нащадків. Будь-яка інша збірка теоретично може успадкуватися від базового типу, тому компілятор вважає ієрархію відкритою і завжди вимагає гілку за замовчуванням у switch. Ця гілка або кидає виняток, або мовчки ховає помилку.</a:t>
            </a:r>
          </a:p>
          <a:p>
            <a:r>
              <a:t>Модифікатор closed дозволяє успадковувати базовий тип лише всередині поточної збірки. Такий клас неявно абстрактний: створити його екземпляр напряму неможливо. Компілятор знає повний список прямих нащадків, тож switch стає вичерпним без фіктивних гілок.</a:t>
            </a:r>
          </a:p>
          <a:p>
            <a:r>
              <a:t>Коли що обирати: union підходить, щоб об'єднати вже наявні, часто не пов'язані між собою типи (наприклад, результат успіху і помилку). closed підходить для родини споріднених типів, якими ви володієте і які мають спільну базу з загальними властивостями чи методами. Типовий приклад - стани бізнес-процесу, команди в CQRS або вузли дерева виразів.</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У C# 14 з'явилися блоки extension, які дозволили додавати до наявних типів не лише методи, а й властивості, зокрема статичні. C# 15 логічно продовжує цю лінію і додає індексатори розширення.</a:t>
            </a:r>
          </a:p>
          <a:p>
            <a:r>
              <a:t>Раніше, якщо чужий тип не мав індексатора, доводилося викликати методи на кшталт ElementAt(i) чи GetBit(i), і математичний чи алгоритмічний код читався гірше. Тепер у блоці extension з іменованим параметром-приймачем можна оголосити звичайний індексатор з get і, за потреби, set. Для коду, що його викликає, такий індексатор нічим не відрізняється від вбудованого.</a:t>
            </a:r>
          </a:p>
          <a:p>
            <a:r>
              <a:t>Корисно для доменних обгорток над сторонніми бібліотеками, бітових масок і власних колекцій, які ви не контролюєте. Головне - не зловживати: індексатор над IEnumerable приховує лінійну складність ElementAt, тож у гарячих циклах краще матеріалізувати колекцію.</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У вкладених циклах break і continue досі діяли лише на найближчий цикл. Щоб із внутрішнього циклу перейти до наступної ітерації зовнішнього або вийти з обох одразу, доводилося заводити булеві прапорці й перевіряти їх на кожному рівні, виносити цикли в окремий метод із return або використовувати goto.</a:t>
            </a:r>
          </a:p>
          <a:p>
            <a:r>
              <a:t>У C# 15 break і continue приймають мітку циклу. Мітка ставиться перед зовнішнім циклом або switch, а її ім'я вказується після break чи continue. Намір видно одразу, і зникають допоміжні змінні. Аналізатор IDE0410 сам знаходить старі патерни з прапорцями і пропонує рефакторинг.</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Підсистема Microsoft.Extensions.Validation, яка в .NET 10 була в прев'ю, в ASP.NET Core 11 стала стабільною. Асинхронні правила, про які ми говорили в розділі BCL, тут підключаються автоматично: після AddValidation() конвеєр Minimal API перед викликом обробника виконує всі асинхронні атрибути й IAsyncValidatableObject. Перевірки елементів колекцій запускаються паралельно, тому сумарна затримка запиту не росте лінійно з кількістю елементів.</a:t>
            </a:r>
          </a:p>
          <a:p>
            <a:r>
              <a:t>Друга можливість - вбудована локалізація. Якщо зареєстровано AddLocalization(), повідомлення про помилки й назви полів з [Display] перекладаються через IStringLocalizerFactory: з файлів ресурсів або з власного джерела, наприклад з бази даних.</a:t>
            </a:r>
          </a:p>
          <a:p>
            <a:r>
              <a:t>Третє - атрибут [ShortCircuit]. Для службових маршрутів на кшталт /healthz, /metrics чи /robots.txt він завершує обробку одразу після маршрутизації і пропускає автентифікацію, сесії та інші важкі middleware. Працює і для лямбд Minimal API, і для дій контролерів MVC.</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Генератор OpenAPI в ASP.NET Core 11 за замовчуванням видає документи за новою специфікацією OpenAPI 3.2.0. Це впливає на всі інструменти, які з цього документа будують клієнти, тестують контракт чи показують документацію.</a:t>
            </a:r>
          </a:p>
          <a:p>
            <a:r>
              <a:t>Найцікавіше в 3.2 - підтримка методу HTTP QUERY. Відома дилема REST: GET безпечний і кешований, але не має тіла, а довжина URL обмежена. POST дозволяє передати складний JSON-фільтр, але семантично означає зміну стану і не кешується проксі. QUERY поєднує тіло запиту з гарантіями безпеки та ідемпотентності, а ASP.NET Core 11 генерує для нього окрему секцію в документі.</a:t>
            </a:r>
          </a:p>
          <a:p>
            <a:r>
              <a:t>Також закрито давні прогалини. Файлові відповіді тепер описуються як бінарні потоки, тож згенерований клієнт повертає потік або масив байтів, а не рядок. [Obsolete] у коді автоматично стає deprecated: true в документі. Якщо дія повертає кілька типів контенту для одного коду, усі вони зберігаються.</a:t>
            </a:r>
          </a:p>
          <a:p>
            <a:r>
              <a:t>Практична порада: після оновлення перегенеруйте клієнтів, порівняйте диф документа і перевірте, що ваш генератор клієнтів (NSwag, Kiota, OpenAPI Generator) уже підтримує 3.2. Якщо ні, версію специфікації можна тимчасово зафіксувати в налаштуваннях AddOpenApi.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SignalR в ASP.NET Core 11 отримав дві функції, які давно просили команди з суворими вимогами безпеки.</a:t>
            </a:r>
          </a:p>
          <a:p>
            <a:r>
              <a:t>Перша - оновлення автентифікації на живому з'єднанні. Термін дії access-токенів зазвичай роблять коротким, 5-15 хвилин. Раніше після його закінчення сервер або продовжував працювати з простроченим токеном, або розривав WebSocket, і клієнт втрачав підписки. Тепер сервер відкриває супутній ендпоінт /refresh і повідомляє клієнту час життя токена ще під час negotiate. Клієнти .NET і TypeScript оновлюють токен заздалегідь, а сервер на льоту оновлює ClaimsPrincipal з'єднання і викликає OnAuthenticationRefreshedAsync.</a:t>
            </a:r>
          </a:p>
          <a:p>
            <a:r>
              <a:t>Друга - скасування звичайних, не потокових викликів хаба з боку клієнта. Якщо скасувати токен, переданий в InvokeAsync, на сервер іде керуючий пакет, і серверний метод теж отримує скасування. Це звільняє базу даних і CPU, коли користувач закрив екран або перестав чекати.</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У .NET 11 SDK з'явився офіційний шаблон сервера Model Context Protocol. MCP - відкритий стандарт, через який ШІ-асистенти (GitHub Copilot у VS і VS Code, Claude та корпоративні агенти) знаходять і викликають зовнішні інструменти та читають контекст із ваших систем.</a:t>
            </a:r>
          </a:p>
          <a:p>
            <a:r>
              <a:t>Команда dotnet new mcpserver створює готовий сервер на офіційному C# SDK для MCP зі зразками інструментів. Для .NET-команд це найкоротший шлях дати агентам доступ до внутрішніх даних: пошуку в базі знань, статусу замовлення, запуску звіту. Інструменти - це звичайні C# методи, тож можна повторно використати наявні сервіси з DI, логування й авторизацію. Порада: починайте з інструментів лише для читання і явно продумайте, які дані агент може бачити.</a:t>
            </a:r>
          </a:p>
          <a:p>
            <a:r>
              <a:t>Для мультитенантних платформ додано IOutputCachePolicyProvider. Він дозволяє будувати політики Output Cache під час виконання, наприклад, підвантажувати TTL кешу для конкретного клієнта з бази. А для тих, хто працює у WSL, команда dotnet dev-certs https --trust тепер встановлює довіру до сертифіката одночасно в Linux і Windows.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Форми в Blazor 11 отримали два важливі покращення.</a:t>
            </a:r>
          </a:p>
          <a:p>
            <a:r>
              <a:t>Перше - клієнтська валідація в статичному SSR. Раніше такі форми перевірялися лише після відправки на сервер, і це помітно поступалося і інтерактивному Blazor, і старим MVC-додаткам з unobtrusive-валідацією. Тепер &lt;DataAnnotationsValidator /&gt; вписує в HTML компактні метадані правил з C# моделі, а скрипт Blazor перевіряє значення прямо в браузері. Правила не треба дублювати на JavaScript.</a:t>
            </a:r>
          </a:p>
          <a:p>
            <a:r>
              <a:t>Друге - асинхронні правила в EditForm. Ті самі AsyncValidationAttribute та IAsyncValidatableObject з BCL тепер працюють у формах без додаткового коду, а для специфічних перевірок поля є RegisterAsyncFieldValidator. EditContext сам керує токенами скасування: коли користувач швидко друкує, попередні незавершені перевірки скасовуються. Методи IsValidationPending та IsValidationFaulted дозволяють показати спінер або повідомлення про збій перевірки поруч із полем.</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Компонент &lt;Virtualize&gt; у Blazor 11 пережив найглибшу переробку з моменту появи. Головна проблема попередніх версій - припущення, що всі елементи мають однакову висоту. Розгорнутий акордеон, зображення, що довантажилося, чи просто текст різної довжини над видимою областю спричиняли стрибки прокручування.</a:t>
            </a:r>
          </a:p>
          <a:p>
            <a:r>
              <a:t>Тепер Virtualize вимірює фактичний розмір елементів через нативний CSS scroll anchoring з запасним варіантом на ResizeObserver для таблиць. Значення OverscanCount за замовчуванням збільшено з 3 до 15, тож прокручування плавніше.</a:t>
            </a:r>
          </a:p>
          <a:p>
            <a:r>
              <a:t>З'явилися три API, на які давно чекали. InitialItemIndex відкриває список одразу на потрібному елементі без мерехтіння початку. ScrollToItemAsync програмно прокручує до індексу. AnchorMode.End тримає прокручування внизу для логів і чатів. Крім того, компонент більше не пише інлайн-стилі, тому працює з найсуворішою Content Security Policy (style-src 'self').</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Режим Interactive Server зручний, але дорогий для сервера: кожна відкрита вкладка тримає SignalR-схему (circuit) зі станом усіх компонентів у пам'яті. Користувачі рідко закривають вкладки, тому значна частина пам'яті часто йде на сесії, якими ніхто не користується.</a:t>
            </a:r>
          </a:p>
          <a:p>
            <a:r>
              <a:t>У Blazor 11 з'явилася пауза схем. AddAutoPause стежить за видимістю вкладки: якщо вона прихована довше заданого часу, схему призупиняють і вивантажують із пам'яті сервера, а коли користувач повертається, її відновлюють. RequestCircuitPauseAsync дозволяє серверу самому акуратно поставити схеми на паузу, наприклад перед плановим перезапуском чи деплоєм, щоб користувачі не втратили стан.</a:t>
            </a:r>
          </a:p>
          <a:p>
            <a:r>
              <a:t>WithBrowserOptions переносить налаштування клієнтського старту Blazor у C#-код на сервері: перепідключення, рівень логування, культуру, таймаути. Ручний виклик Blazor.start() у JavaScript більше не потрібен, і вся конфігурація живе в одному місці.</a:t>
            </a:r>
          </a:p>
          <a:p>
            <a:r>
              <a:t>Практична порада: почніть із помірної затримки паузи (30-60 секунд), подивіться на метрики пам'яті та кількість активних схем і перевірте, що компоненти коректно переживають паузу, особливо ті, що тримають таймери чи підписки.</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Найбільш футуристична частина Blazor 11 - експериментальний пакет Microsoft.AspNetCore.Components.AI з підтримкою протоколу AG-UI (Agent User Interaction Protocol).</a:t>
            </a:r>
          </a:p>
          <a:p>
            <a:r>
              <a:t>Сучасний агентний інтерфейс - це вже не просто чат. Він має показувати проміжні кроки агента, картки виклику інструментів, виконувати дії в браузері, питати підтвердження людини перед критичними операціями і синхронізувати спільний стан документа. Писати все це вручну довго й складно.</a:t>
            </a:r>
          </a:p>
          <a:p>
            <a:r>
              <a:t>UIAgent приймає будь-який IChatClient з Microsoft.Extensions.AI і перетворює потокові оновлення на типізовані блоки контенту. Позначивши клас атрибутом [ToolBlock], ви отримуєте автоматичний рендер стану "виконується" і фінальної картки результату. FunctionApprovalBlock зупиняє агента, доки користувач не натисне Approve або Reject. Predictive State показує запропоновані агентом правки документа з можливістю відкату.</a:t>
            </a:r>
          </a:p>
          <a:p>
            <a:r>
              <a:t>Що з цим робити зараз: пакет експериментальний, тож для продакшну його поки рано брати, а от для внутрішніх прототипів і пілотів агентних сценаріїв це найшвидший старт у .NET. Разом із шаблоном MCP-сервера з ASP.NET Core це дає повний ланцюжок: агент викликає ваші інструменти через MCP і показує результат у Blazor.</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Комплексні типи в EF Core - це спосіб зберігати об'єкти-значення з DDD: адресу, гроші, діапазон дат. У EF Core 11 вони нарешті покривають усі сценарії, через які команди трималися за owned entities.</a:t>
            </a:r>
          </a:p>
          <a:p>
            <a:r>
              <a:t>Раніше комплексні типи працювали лише в плоских таблицях та ієрархіях TPH. Тепер і стовпчиковий, і JSON-мапінг працюють із TPT і TPC. Провайдер Cosmos DB зберігає комплексні типи і їхні колекції як вкладений JSON без фіктивних ідентифікаторів.</a:t>
            </a:r>
          </a:p>
          <a:p>
            <a:r>
              <a:t>Друга велика прогалина - ключі та індекси. Тепер HasKey і HasIndex приймають шляхи до вкладених властивостей, а в JSON-колонках можна індексувати шляхи всередині масивів. Для типу json у SQL Server міграції генерують нативний CREATE JSON INDEX. Вкладені властивості налаштовуються прямим лямбда-ланцюжком, а команда EF виправила порівняння вкладених типів, ExecuteUpdate та ReloadAsync.</a:t>
            </a:r>
          </a:p>
          <a:p>
            <a:r>
              <a:t>Практичний висновок: якщо у вас є owned entities, які насправді є об'єктами-значеннями, EF Core 11 - хороший момент спланувати міграцію на комплексні типи. Почніть з однієї сутності та перевірте згенеровану міграцію: схема таблиць може змінитися.</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 Core 11 прибрав три хронічні неефективності в генерованому SQL. Важливо, що всі вони вмикаються автоматично після оновлення, без змін у коді.</a:t>
            </a:r>
          </a:p>
          <a:p>
            <a:r>
              <a:t>Перша стосується розділених запитів (AsSplitQuery). Якщо запит підвантажував і довідникову навігацію один-до-одного, і дочірню колекцію, EF додавав зайвий INNER JOIN до довідника в запит за колекцією. Тепер цього джойну немає, на бенчмарках це дає до 29% приросту. Друга: з ORDER BY прибрано ключі навігацій to-one, бо вони функціонально залежать від ключа батьківської таблиці, і це ще до 22% на одиночних запитах.</a:t>
            </a:r>
          </a:p>
          <a:p>
            <a:r>
              <a:t>Третя, найпомітніша для продакшну: холості перетворення типів. Коли властивість має value converter, а тип у базі збігається, EF раніше обгортав колонку в CAST у WHERE, і оптимізатор СУБД не міг використати індекс. EF 11 прибирає такий CAST. Якщо у вас були "загадково повільні" запити по колонках з конвертерами, після оновлення варто переглянути їхні плани виконання.</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 MAUI 11 переживає наймасштабнішу внутрішню зміну з часів переходу від Xamarin.Forms. Мобільні застосунки на Android та iOS завжди працювали на окремій віртуальній машині Mono, тоді як сервер і десктоп - на CoreCLR. Через це відрізнялися поведінка JIT і збирача сміття, профілювання й набір діагностичних інструментів.</a:t>
            </a:r>
          </a:p>
          <a:p>
            <a:r>
              <a:t>У .NET 11 CoreCLR став рантаймом за замовчуванням для всіх платформ MAUI, а Native AOT доступний як опція публікації. Уся екосистема .NET тепер працює на одному рушії. Для команди це означає однакові інструменти діагностики для бекенду й мобільного клієнта, швидший Hot Reload і передбачуваніші характеристики продуктивності.</a:t>
            </a:r>
          </a:p>
          <a:p>
            <a:r>
              <a:t>Практичні кроки при оновленні: повністю прогнати регресійні тести, особливо там, де є рефлексія, динамічне завантаження чи нативний interop. Заміряти час старту і розмір пакета на реальних пристроях і порівняти з версією на Mono. Native AOT варто вмикати лише після перевірки, що всі залежності trimming-сумісні.</a:t>
            </a:r>
          </a:p>
          <a:p>
            <a:r>
              <a:t>Друга новина - шаблони тестових проектів для Android, iOS, tvOS, macOS і Mac Catalyst на Microsoft.Testing.Platform. Тести, які залежать від платформи, тепер запускаються звичайною командою dotnet test прямо на емуляторі чи фізичному пристрої, а отже їх легко вбудувати в CI.</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XAML у .NET MAUI 11 отримав чотири покращення, побудовані на генерації коду під час компіляції (XAML Source Generation).</a:t>
            </a:r>
          </a:p>
          <a:p>
            <a:r>
              <a:t>Перше і найважливіше для щоденної роботи - інкрементальний Hot Reload. Раніше після зміни XAML сторінка часто перестворювалася повністю, і розробник втрачав введений текст і позицію прокручування. Новий рушій генерує точкові патчі і застосовує їх до живого візуального дерева, включно з DynamicResource і шаблонами CollectionView.</a:t>
            </a:r>
          </a:p>
          <a:p>
            <a:r>
              <a:t>Друге - неявні простори імен XAML увімкнено за замовчуванням, тож довгі рядки xmlns у кожному файлі більше не потрібні. Третє - директива x:Code для невеликих обробників прямо у XAML. Її варто використовувати помірно, логіка все одно краще почувається у ViewModel. Четверте - Lazy ResourceDictionary: елементи словників ресурсів створюються лише при першому зверненні, і застосунки з великими темами стартують у рази швидше.</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Наостанок - як перетворити цей огляд на план оновлення.</a:t>
            </a:r>
          </a:p>
          <a:p>
            <a:r>
              <a:t>Частину переваг ви отримуєте одразу після зміни таргету: рантайм і бібліотеки вже зібрані з Runtime Async, EF Core генерує чистіший SQL, ASP.NET Core сам пише трасування OpenTelemetry, а мобільні застосунки працюють на CoreCLR.</a:t>
            </a:r>
          </a:p>
          <a:p>
            <a:r>
              <a:t>Друга група - зміни, які варто свідомо вносити в код: union-типи та закриті ієрархії для результатів і станів, нові оператори LINQ замість старих конструкцій, асинхронні правила валідації замість ручних перевірок у сервісах. Третя група - пілоти: MCP-сервер для агентів, AI-компоненти Blazor, пауза схем, експериментальні бекенди MAUI.</a:t>
            </a:r>
          </a:p>
          <a:p>
            <a:r>
              <a:t>І четверта - перевірки перед розгортанням. Інструменти, які парсять стек-трейси, побачать коротший формат. Згенеровані клієнти треба перегенерувати під OpenAPI 3.2. Код EF Core, що чекав завантаження векторних колонок, тепер має запитувати їх явно. Мобільні застосунки потребують повного регресійного прогону після переходу з Mono на CoreCLR.</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Розділ про рантайм. Детально розберемо лише Runtime Async, бо це зміна, яку відчує кожен .NET-розробник. Решту перелічимо на цьому слайді.</a:t>
            </a:r>
          </a:p>
          <a:p>
            <a:r>
              <a:t>Більшість покращень рантайму ви отримуєте без жодних змін у коді, просто оновивши таргет. JIT навчився прибирати зайві розгалуження, повторні перевірки та перевірки переповнення, коли діапазон значень відомий. Мінімальні вимоги до процесорів x86/x64 та Arm64 підняли до рівня сучасних ОС, тож рантайм і Native AOT позбулися повільних резервних шляхів. Якщо у вас дуже старе залізо, перевірте сумісність перед оновленням.</a:t>
            </a:r>
          </a:p>
          <a:p>
            <a:r>
              <a:t>Для вузьких сценаріїв є нові векторні інструкції та апаратна арифметика для типу Half, корисні в ML і обробці сигналів. З'явилося логування аварійних збоїв усередині процесу, яке рятує діагностику на мобільних пристроях і в контейнерах, де зовнішній монітор не працює. Native AOT отримав компактніший виклик інтерфейсних методів, а CoreCLR на WebAssembly вже проходить повний набір тестів бібліотек.</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Базові бібліотеки та SDK. Детально пройдемо Process API, нові оператори LINQ, асинхронну валідацію та SDK. Решту коротко тут.</a:t>
            </a:r>
          </a:p>
          <a:p>
            <a:r>
              <a:t>Потокові адаптери без копіювання дозволяють передати ReadOnlyMemory, сегментований буфер з Pipelines або просто рядок у будь-який API, що приймає Stream, без проміжного масиву байтів. Це менше навантаження на GC, особливо на купу великих об'єктів.</a:t>
            </a:r>
          </a:p>
          <a:p>
            <a:r>
              <a:t>У System.IO.Compression нарешті є нативний Zstandard і паролі з AES-шифруванням для ZIP, тож сторонні бібліотеки для захищених архівів більше не потрібні. StringBuilder.MoveChunks передає внутрішні буфери іншому екземпляру без копіювання, а для фінансових розрахунків додано десяткові типи IEEE 754.</a:t>
            </a:r>
          </a:p>
          <a:p>
            <a:r>
              <a:t>System.Text.Json отримав політику PascalCase, атрибут для перевизначення іменування окремої властивості та [JsonIgnore] на рівні класу, тож умову ігнорування не треба повторювати над кожною властивістю. Також він серіалізує union-типи C# 15 і пише потоки у форматі JSON Lines.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 15 - мова за замовчуванням для net11.0. Розберемо кожну нову можливість окремим слайдом, крім моделі безпеки пам'яті.</a:t>
            </a:r>
          </a:p>
          <a:p>
            <a:r>
              <a:t>Нова модель безпеки пам'яті вмикається окремо і потрібна насамперед авторам бібліотек та interop-коду. Суть така: unsafe тепер позначає лише реальний доступ до пам'яті через розіменування, а не саму наявність вказівника. Оголошення вказівників, fixed, stackalloc і sizeof дозволені у звичайному коді, вираз unsafe(...) вмикає небезпечний контекст для одного підвиразу, а ключове слово safe позначає перевірені extern-методи. Ризиковані місця стають помітними на код-рев'ю.</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ASP.NET Core 11. Детально розберемо валідацію і [ShortCircuit], OpenAPI 3.2, SignalR та шаблон MCP-сервера.</a:t>
            </a:r>
          </a:p>
          <a:p>
            <a:r>
              <a:t>Kestrel і спостережуваність. Фреймворк сам реалізує семантичні конвенції OpenTelemetry для HTTP-сервера, тож пакет OpenTelemetry.Instrumentation.AspNetCore більше не потрібен: достатньо підписатися на джерело Microsoft.AspNetCore. Парсер HTTP/1.1 більше не кидає винятків на биті запити, і під час сканувань та атак пропускна здатність зростає на 20-40%. HTTP/3 відповідає на перші запити, не чекаючи службових фреймів. Middleware стиснення та декомпресії підтримує Zstandard без додаткових пакетів.</a:t>
            </a:r>
          </a:p>
          <a:p>
            <a:r>
              <a:t>Union-типи C# 15 можна повертати з ендпоінтів, а в OpenAPI вони описуються як anyOf без службових полів. Фільтри ендпоінтів тепер виконуються і тоді, коли прив'язка параметрів впала з 400, тож формат помилок можна уніфікувати. Потоки Server-Sent Events отримують типізовану схему подій. Identity перейшов на TimeProvider, що спрощує тести, passkeys отримують зрозумілі назви, а експериментальний DBSC прив'язує сесійні cookie до пристрою.</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Blazor 11. Детально розберемо форми й валідацію, Virtualize, паузу схем та AI-компоненти.</a:t>
            </a:r>
          </a:p>
          <a:p>
            <a:r>
              <a:t>Статичний SSR став набагато повнішим. &lt;CacheView&gt; кешує готовий HTML дорогого фрагмента сторінки, &lt;DisplayName&gt; бере назви полів з атрибутів [Display], &lt;EnvironmentView&gt; показує контент залежно від середовища. TempData і Session тепер доступні через атрибути на властивостях компонента, тож патерн POST-Redirect-GET пишеться без обхідних шляхів, а навігація підтримує відносні шляхи.</a:t>
            </a:r>
          </a:p>
          <a:p>
            <a:r>
              <a:t>QuickGrid зберігає пагінацію та сортування в рядку запиту і працює навіть без JavaScript, тому посиланням на відсортовану таблицю можна поділитися, а кнопки "Назад" і "Вперед" у браузері працюють. Blazor WebAssembly отримав IHostedService для фонових задач і новий легкий хост для розробки замість DevServer.</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 Core 11. Детально розглянемо комплексні типи та покращення генерації SQL, бо вони стосуються майже кожного проекту.</a:t>
            </a:r>
          </a:p>
          <a:p>
            <a:r>
              <a:t>Векторний пошук для SQL Server 2025 і Azure SQL: векторні індекси в міграціях і наближений пошук найближчих сусідів через VectorSearch. Найбільший виграш дає зміна за замовчуванням: векторні колонки більше не потрапляють у SELECT при звичайному завантаженні сутностей, і типові запити прискорюються до 22 разів. Якщо ваш код розраховував, що Embedding завантажується разом із сутністю, після оновлення його треба запитувати явно.</a:t>
            </a:r>
          </a:p>
          <a:p>
            <a:r>
              <a:t>Повнотекстовий пошук налаштовується в моделі, а функції FreeTextTable і ContainsTable повертають релевантність. Разом із векторним пошуком і FullJoin це дає гібридний пошук для RAG в одному запиті. Транслятор LINQ розуміє FullJoin, MaxByAsync і MinByAsync та краще обробляє GroupBy. Для JSON з'явилися функції JSON_CONTAINS і JsonPathExists, а стовпці часу темпоральних таблиць можна мапити на звичайні властивості.</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 MAUI 11. Детально розберемо перехід на CoreCLR, нові можливості XAML та експериментальні бекенди для macOS, Linux і WPF.</a:t>
            </a:r>
          </a:p>
          <a:p>
            <a:r>
              <a:t>Контроли: на Android базові елементи вводу перейшли на Material 3, BoxView малює градієнти, з'явився вбудований жест довгого натискання, а вкладки підтримують бейджі. Контрол Map отримав кластеризацію маркерів, власні іконки, клікабельні фігури та реалізацію для Windows на базі Azure Maps.</a:t>
            </a:r>
          </a:p>
          <a:p>
            <a:r>
              <a:t>Безпека та навігація: клас Passkeys дає безпарольний вхід через Face ID, Touch ID, Windows Hello чи біометрію Android у стандартному форматі WebAuthn, сумісному з ASP.NET Core Identity. Маршрути Shell підтримують параметри в шляху, а анімації можна скасовувати. Для гібридних застосунків HybridWebView став сумісним з Native AOT, а BlazorWebView кешує локальні статичні ресурси.</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Офіційно .NET MAUI підтримує Android, iOS, Mac Catalyst і Windows через WinUI. Найчастіше питання від команд - як бути з Linux і з "справжнім" macOS-застосунком, а не Mac Catalyst.</a:t>
            </a:r>
          </a:p>
          <a:p>
            <a:r>
              <a:t>Відповідь Microsoft - репозиторій dotnet/maui-labs з експериментальними платформними бекендами. Їх три: macOS на AppKit для macOS 14 і новіших, Linux на GTK4 та Windows на WPF. Кожен постачається як NuGet-пакет і має свій шаблон dotnet new. Ідея в тому, що наявний MAUI-застосунок запускається на новій платформі нативно, без переписування UI.</a:t>
            </a:r>
          </a:p>
          <a:p>
            <a:r>
              <a:t>Важливе застереження: бекенди експериментальні, їхні API змінюються між релізами, офіційної підтримки Microsoft немає, а питання вирішуються через issue-трекер maui-labs. Тому для продакшну поки що варто обмежитися прототипами та внутрішніми інструментами. Як альтернативу для Linux і WebAssembly варто згадати бекенд Avalonia для MAUI, який зараз у прев'ю на базі .NET 11.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Notes"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 .NET 11 Release Overview: What Changes for Everyday .NET Development</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Release focus: Runtime Async in the VM, C# 15 type-system features, a richer BCL, and CoreCLR as the single runtime for MAUI.</a:t>
            </a:r>
          </a:p>
          <a:p>
            <a:pPr>
              <a:spcAft>
                <a:spcPts val="1000"/>
              </a:spcAft>
              <a:defRPr sz="1100">
                <a:solidFill>
                  <a:srgbClr val="0F172A"/>
                </a:solidFill>
                <a:latin typeface="Segoe UI"/>
              </a:defRPr>
            </a:pPr>
            <a:r>
              <a:t>•  Language: C# 15 is the default for net11.0 - unions, closed hierarchies, collection expression arguments, extension indexers.</a:t>
            </a:r>
          </a:p>
          <a:p>
            <a:pPr>
              <a:spcAft>
                <a:spcPts val="1000"/>
              </a:spcAft>
              <a:defRPr sz="1100">
                <a:solidFill>
                  <a:srgbClr val="0F172A"/>
                </a:solidFill>
                <a:latin typeface="Segoe UI"/>
              </a:defRPr>
            </a:pPr>
            <a:r>
              <a:t>•  Web and data: OpenAPI 3.2, async validation end to end, Blazor SSR improvements, EF Core vector and hybrid search.</a:t>
            </a:r>
          </a:p>
          <a:p>
            <a:pPr>
              <a:spcAft>
                <a:spcPts val="1000"/>
              </a:spcAft>
              <a:defRPr sz="1100">
                <a:solidFill>
                  <a:srgbClr val="0F172A"/>
                </a:solidFill>
                <a:latin typeface="Segoe UI"/>
              </a:defRPr>
            </a:pPr>
            <a:r>
              <a:t>•  Hardware baseline raised: x86/x64 and Arm64 minimums now match current OS requirements, so the runtime drops legacy CPU fallbacks.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&lt;!-- Upgrading a project to .NET 11 --&gt;</a:t>
            </a:r>
            <a:br/>
            <a:r>
              <a:t>&lt;Project Sdk="Microsoft.NET.Sdk"&gt;</a:t>
            </a:r>
            <a:br/>
            <a:r>
              <a:t>  &lt;PropertyGroup&gt;</a:t>
            </a:r>
            <a:br/>
            <a:r>
              <a:t>    &lt;TargetFramework&gt;net11.0&lt;/TargetFramework&gt;</a:t>
            </a:r>
            <a:br/>
            <a:r>
              <a:t>    &lt;!-- C# 15 is the default language version --&gt;</a:t>
            </a:r>
            <a:br/>
            <a:r>
              <a:t>    &lt;Nullable&gt;enable&lt;/Nullable&gt;</a:t>
            </a:r>
            <a:br/>
            <a:r>
              <a:t>  &lt;/PropertyGroup&gt;</a:t>
            </a:r>
            <a:br/>
            <a:r>
              <a:t>&lt;/Project&gt;</a:t>
            </a:r>
            <a:br/>
            <a:br/>
            <a:r>
              <a:t>// What you get without code changes:</a:t>
            </a:r>
            <a:br/>
            <a:r>
              <a:t>// - BCL and ASP.NET Core already built with Runtime Async</a:t>
            </a:r>
            <a:br/>
            <a:r>
              <a:t>// - Cleaner async stack traces in logs and dumps</a:t>
            </a:r>
            <a:br/>
            <a:r>
              <a:t>// - Faster code paths from the higher CPU baseline</a:t>
            </a:r>
            <a:br/>
            <a:r>
              <a:t>// - MAUI apps run on CoreCLR instead of Mono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 Runtime Async: Async/Await Handled by the Runtime Instead of the Compiler</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old model: Roslyn rewrote every async method into a generated state-machine type with MoveNext and a large switch.</a:t>
            </a:r>
          </a:p>
          <a:p>
            <a:pPr>
              <a:spcAft>
                <a:spcPts val="1000"/>
              </a:spcAft>
              <a:defRPr sz="1100">
                <a:solidFill>
                  <a:srgbClr val="0F172A"/>
                </a:solidFill>
                <a:latin typeface="Segoe UI"/>
              </a:defRPr>
            </a:pPr>
            <a:r>
              <a:t>•  Runtime Async: CoreCLR itself tracks suspension and resumption of async methods - no generated state machine in IL.</a:t>
            </a:r>
          </a:p>
          <a:p>
            <a:pPr>
              <a:spcAft>
                <a:spcPts val="1000"/>
              </a:spcAft>
              <a:defRPr sz="1100">
                <a:solidFill>
                  <a:srgbClr val="0F172A"/>
                </a:solidFill>
                <a:latin typeface="Segoe UI"/>
              </a:defRPr>
            </a:pPr>
            <a:r>
              <a:t>•  Smaller IL, fewer allocations between async frames, and code the JIT can optimize like ordinary methods.</a:t>
            </a:r>
          </a:p>
          <a:p>
            <a:pPr>
              <a:spcAft>
                <a:spcPts val="1000"/>
              </a:spcAft>
              <a:defRPr sz="1100">
                <a:solidFill>
                  <a:srgbClr val="0F172A"/>
                </a:solidFill>
                <a:latin typeface="Segoe UI"/>
              </a:defRPr>
            </a:pPr>
            <a:r>
              <a:t>•  On by default for the platform: the .NET 11 BCL and ASP.NET Core are already compiled with runtime-async=on.</a:t>
            </a:r>
          </a:p>
          <a:p>
            <a:pPr>
              <a:spcAft>
                <a:spcPts val="1000"/>
              </a:spcAft>
              <a:defRPr sz="1100">
                <a:solidFill>
                  <a:srgbClr val="0F172A"/>
                </a:solidFill>
                <a:latin typeface="Segoe UI"/>
              </a:defRPr>
            </a:pPr>
            <a:r>
              <a:t>•  Opt in for your code with one csproj line; net11.0 no longer requires EnablePreviewFeatures.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&lt;!-- Enabling Runtime Async in a .NET 11 project (.csproj) --&gt;</a:t>
            </a:r>
            <a:br/>
            <a:r>
              <a:t>&lt;Project Sdk="Microsoft.NET.Sdk"&gt;</a:t>
            </a:r>
            <a:br/>
            <a:r>
              <a:t>  &lt;PropertyGroup&gt;</a:t>
            </a:r>
            <a:br/>
            <a:r>
              <a:t>    &lt;TargetFramework&gt;net11.0&lt;/TargetFramework&gt;</a:t>
            </a:r>
            <a:br/>
            <a:r>
              <a:t>    &lt;!-- No EnablePreviewFeatures needed for net11.0 --&gt;</a:t>
            </a:r>
            <a:br/>
            <a:r>
              <a:t>    &lt;Features&gt;runtime-async=on&lt;/Features&gt;</a:t>
            </a:r>
            <a:br/>
            <a:r>
              <a:t>  &lt;/PropertyGroup&gt;</a:t>
            </a:r>
            <a:br/>
            <a:r>
              <a:t>&lt;/Project&gt;</a:t>
            </a:r>
            <a:br/>
            <a:br/>
            <a:r>
              <a:t>// What changes in compilation:</a:t>
            </a:r>
            <a:br/>
            <a:r>
              <a:t>// Before: Roslyn emits a hidden IAsyncStateMachine type</a:t>
            </a:r>
            <a:br/>
            <a:r>
              <a:t>//         with MoveNext(), a state field and hoisted locals.</a:t>
            </a:r>
            <a:br/>
            <a:r>
              <a:t>// Now:    the method compiles to straight-line IL with</a:t>
            </a:r>
            <a:br/>
            <a:r>
              <a:t>//         runtime-managed suspension points.</a:t>
            </a:r>
            <a:br/>
            <a:r>
              <a:t>// Your C# source stays exactly the same.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4. Runtime Async in Practice: Clean Stack Traces and Faster Await Paths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Readable stack traces: no more AsyncMethodBuilderCore.Start frames or methods repeated several times per call level.</a:t>
            </a:r>
          </a:p>
          <a:p>
            <a:pPr>
              <a:spcAft>
                <a:spcPts val="1000"/>
              </a:spcAft>
              <a:defRPr sz="1100">
                <a:solidFill>
                  <a:srgbClr val="0F172A"/>
                </a:solidFill>
                <a:latin typeface="Segoe UI"/>
              </a:defRPr>
            </a:pPr>
            <a:r>
              <a:t>•  Exceptions, logs and dumps show only real business methods with exact file names and line numbers.</a:t>
            </a:r>
          </a:p>
          <a:p>
            <a:pPr>
              <a:spcAft>
                <a:spcPts val="1000"/>
              </a:spcAft>
              <a:defRPr sz="1100">
                <a:solidFill>
                  <a:srgbClr val="0F172A"/>
                </a:solidFill>
                <a:latin typeface="Segoe UI"/>
              </a:defRPr>
            </a:pPr>
            <a:r>
              <a:t>•  Cheaper continuations: ExecutionContext capture is skipped when no AsyncLocal state is in use.</a:t>
            </a:r>
          </a:p>
          <a:p>
            <a:pPr>
              <a:spcAft>
                <a:spcPts val="1000"/>
              </a:spcAft>
              <a:defRPr sz="1100">
                <a:solidFill>
                  <a:srgbClr val="0F172A"/>
                </a:solidFill>
                <a:latin typeface="Segoe UI"/>
              </a:defRPr>
            </a:pPr>
            <a:r>
              <a:t>•  Less machine code: the JIT tail-merges suspension points and specializes Task-returning methods.</a:t>
            </a:r>
          </a:p>
          <a:p>
            <a:pPr>
              <a:spcAft>
                <a:spcPts val="1000"/>
              </a:spcAft>
              <a:defRPr sz="1100">
                <a:solidFill>
                  <a:srgbClr val="0F172A"/>
                </a:solidFill>
                <a:latin typeface="Segoe UI"/>
              </a:defRPr>
            </a:pPr>
            <a:r>
              <a:t>•  Faster warm-up: Task/ValueTask factory intrinsics and implicit tail calls speed up hot await paths.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rPr dirty="0"/>
              <a:t>C# 15 / .NET 11 Ecosystem:</a:t>
            </a:r>
          </a:p>
          <a:p>
            <a:pPr>
              <a:defRPr sz="950">
                <a:solidFill>
                  <a:srgbClr val="E4E4E7"/>
                </a:solidFill>
                <a:latin typeface="Consolas"/>
              </a:defRPr>
            </a:pPr>
            <a:r>
              <a:rPr dirty="0"/>
              <a:t>// Clean call stacks with Runtime Async in .NET 11</a:t>
            </a:r>
            <a:br/>
            <a:r>
              <a:rPr dirty="0"/>
              <a:t>await OuterAsync();</a:t>
            </a:r>
            <a:br/>
            <a:br/>
            <a:r>
              <a:rPr dirty="0"/>
              <a:t>static async Task OuterAsync() =&gt; await MiddleAsync();</a:t>
            </a:r>
            <a:br/>
            <a:r>
              <a:rPr dirty="0"/>
              <a:t>static async Task MiddleAsync() =&gt; await InnerAsync();</a:t>
            </a:r>
            <a:br/>
            <a:r>
              <a:rPr dirty="0"/>
              <a:t>static async Task InnerAsync()</a:t>
            </a:r>
            <a:br/>
            <a:r>
              <a:rPr dirty="0"/>
              <a:t>{</a:t>
            </a:r>
            <a:br/>
            <a:r>
              <a:rPr dirty="0"/>
              <a:t>    await Task.Yield();</a:t>
            </a:r>
            <a:br/>
            <a:r>
              <a:rPr dirty="0"/>
              <a:t>    Console.WriteLine(new StackTrace(fNeedFileInfo: true));</a:t>
            </a:r>
            <a:br/>
            <a:r>
              <a:rPr dirty="0"/>
              <a:t>}</a:t>
            </a:r>
            <a:br/>
            <a:br/>
            <a:r>
              <a:rPr dirty="0"/>
              <a:t>// Before .NET 11: ~13 noisy lines, e.g.</a:t>
            </a:r>
            <a:br/>
            <a:r>
              <a:rPr dirty="0"/>
              <a:t>//   at AsyncMethodBuilderCore.Start(...)</a:t>
            </a:r>
            <a:br/>
            <a:r>
              <a:rPr dirty="0"/>
              <a:t>// .NET 11 with Runtime Async: just the real frames</a:t>
            </a:r>
            <a:br/>
            <a:r>
              <a:rPr dirty="0"/>
              <a:t>//   at Program.&lt;Main&gt;g__InnerAsync|0_2() in Program.cs:line 8</a:t>
            </a:r>
            <a:br/>
            <a:r>
              <a:rPr dirty="0"/>
              <a:t>//   at Program.&lt;Main&gt;g__MiddleAsync|0_1() in Program.cs:line 5</a:t>
            </a:r>
            <a:br/>
            <a:r>
              <a:rPr dirty="0"/>
              <a:t>//   at Program.&lt;Main&gt;g__OuterAsync|0_0() in Program.cs:line 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6. Process API: One-Line Process Execution with Captured Output</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old pain: capturing stdout/stderr meant ProcessStartInfo setup, event handlers and a real risk of pipe-buffer deadlocks.</a:t>
            </a:r>
          </a:p>
          <a:p>
            <a:pPr>
              <a:spcAft>
                <a:spcPts val="1000"/>
              </a:spcAft>
              <a:defRPr sz="1100">
                <a:solidFill>
                  <a:srgbClr val="0F172A"/>
                </a:solidFill>
                <a:latin typeface="Segoe UI"/>
              </a:defRPr>
            </a:pPr>
            <a:r>
              <a:t>•  Process.Run / Process.RunAsync: start a child process in one call and await its ProcessExitStatus.</a:t>
            </a:r>
          </a:p>
          <a:p>
            <a:pPr>
              <a:spcAft>
                <a:spcPts val="1000"/>
              </a:spcAft>
              <a:defRPr sz="1100">
                <a:solidFill>
                  <a:srgbClr val="0F172A"/>
                </a:solidFill>
                <a:latin typeface="Segoe UI"/>
              </a:defRPr>
            </a:pPr>
            <a:r>
              <a:t>•  Process.RunAndCaptureText / RunAndCaptureTextAsync: run and safely collect StandardOutput and StandardError together.</a:t>
            </a:r>
          </a:p>
          <a:p>
            <a:pPr>
              <a:spcAft>
                <a:spcPts val="1000"/>
              </a:spcAft>
              <a:defRPr sz="1100">
                <a:solidFill>
                  <a:srgbClr val="0F172A"/>
                </a:solidFill>
                <a:latin typeface="Segoe UI"/>
              </a:defRPr>
            </a:pPr>
            <a:r>
              <a:t>•  ReadAllLinesAsync: stream output as IAsyncEnumerable&lt;ProcessOutputLine&gt;, with each line tagged as stdout or stderr.</a:t>
            </a:r>
          </a:p>
          <a:p>
            <a:pPr>
              <a:spcAft>
                <a:spcPts val="1000"/>
              </a:spcAft>
              <a:defRPr sz="1100">
                <a:solidFill>
                  <a:srgbClr val="0F172A"/>
                </a:solidFill>
                <a:latin typeface="Segoe UI"/>
              </a:defRPr>
            </a:pPr>
            <a:r>
              <a:t>•  Arguments are passed as an array, so there is no manual quoting or escaping of command lines.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Run a tool and capture its text output (.NET 11)</a:t>
            </a:r>
            <a:br/>
            <a:r>
              <a:t>ProcessTextOutput result = await Process.RunAndCaptureTextAsync(</a:t>
            </a:r>
            <a:br/>
            <a:r>
              <a:t>    "git", ["status", "--porcelain"], cancellationToken: ct);</a:t>
            </a:r>
            <a:br/>
            <a:br/>
            <a:r>
              <a:t>Console.WriteLine(result.StandardOutput);</a:t>
            </a:r>
            <a:br/>
            <a:r>
              <a:t>Console.WriteLine($"Exit code: {result.ExitStatus.ExitCode}");</a:t>
            </a:r>
            <a:br/>
            <a:br/>
            <a:r>
              <a:t>// 2. Stream lines as they arrive, stdout vs stderr</a:t>
            </a:r>
            <a:br/>
            <a:r>
              <a:t>using var proc = Process.Start("dotnet", ["build"])!;</a:t>
            </a:r>
            <a:br/>
            <a:r>
              <a:t>await foreach (ProcessOutputLine line in proc.ReadAllLinesAsync(ct))</a:t>
            </a:r>
            <a:br/>
            <a:r>
              <a:t>{</a:t>
            </a:r>
            <a:br/>
            <a:r>
              <a:t>    if (line.StandardError)</a:t>
            </a:r>
            <a:br/>
            <a:r>
              <a:t>        Console.Error.WriteLine($"[ERR] {line.Content}");</a:t>
            </a:r>
            <a:br/>
            <a:r>
              <a:t>    else</a:t>
            </a:r>
            <a:br/>
            <a:r>
              <a:t>        Console.WriteLine($"[OUT] {line.Content}");</a:t>
            </a:r>
            <a:br/>
            <a: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7. Process API: Lifecycle Control and Process Lookup</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Process.StartAndForget - fire-and-forget launch; the handle is released immediately.</a:t>
            </a:r>
          </a:p>
          <a:p>
            <a:pPr>
              <a:spcAft>
                <a:spcPts val="1000"/>
              </a:spcAft>
              <a:defRPr sz="1100">
                <a:solidFill>
                  <a:srgbClr val="0F172A"/>
                </a:solidFill>
                <a:latin typeface="Segoe UI"/>
              </a:defRPr>
            </a:pPr>
            <a:r>
              <a:t>•  ProcessStartInfo.StartDetached - child survives when the parent terminal session closes.</a:t>
            </a:r>
          </a:p>
          <a:p>
            <a:pPr>
              <a:spcAft>
                <a:spcPts val="1000"/>
              </a:spcAft>
              <a:defRPr sz="1100">
                <a:solidFill>
                  <a:srgbClr val="0F172A"/>
                </a:solidFill>
                <a:latin typeface="Segoe UI"/>
              </a:defRPr>
            </a:pPr>
            <a:r>
              <a:t>•  ProcessStartInfo.KillOnParentExit (Windows) - OS kills the child if the parent crashes.</a:t>
            </a:r>
          </a:p>
          <a:p>
            <a:pPr>
              <a:spcAft>
                <a:spcPts val="1000"/>
              </a:spcAft>
              <a:defRPr sz="1100">
                <a:solidFill>
                  <a:srgbClr val="0F172A"/>
                </a:solidFill>
                <a:latin typeface="Segoe UI"/>
              </a:defRPr>
            </a:pPr>
            <a:r>
              <a:t>•  Process.Signal(PosixSignal) - send SIGTERM and other signals on Linux/macOS.</a:t>
            </a:r>
          </a:p>
          <a:p>
            <a:pPr>
              <a:spcAft>
                <a:spcPts val="1000"/>
              </a:spcAft>
              <a:defRPr sz="1100">
                <a:solidFill>
                  <a:srgbClr val="0F172A"/>
                </a:solidFill>
                <a:latin typeface="Segoe UI"/>
              </a:defRPr>
            </a:pPr>
            <a:r>
              <a:t>•  ProcessExitStatus - exit code plus the terminating signal, if any.</a:t>
            </a:r>
          </a:p>
          <a:p>
            <a:pPr>
              <a:spcAft>
                <a:spcPts val="1000"/>
              </a:spcAft>
              <a:defRPr sz="1100">
                <a:solidFill>
                  <a:srgbClr val="0F172A"/>
                </a:solidFill>
                <a:latin typeface="Segoe UI"/>
              </a:defRPr>
            </a:pPr>
            <a:r>
              <a:t>•  ProcessStartInfo.StartSuspended + SafeProcessHandle.Resume() - create frozen, resume later.</a:t>
            </a:r>
          </a:p>
          <a:p>
            <a:pPr>
              <a:spcAft>
                <a:spcPts val="1000"/>
              </a:spcAft>
              <a:defRPr sz="1100">
                <a:solidFill>
                  <a:srgbClr val="0F172A"/>
                </a:solidFill>
                <a:latin typeface="Segoe UI"/>
              </a:defRPr>
            </a:pPr>
            <a:r>
              <a:t>•  Process.TryGetProcessById - returns false instead of throwing ArgumentException.</a:t>
            </a:r>
          </a:p>
          <a:p>
            <a:pPr>
              <a:spcAft>
                <a:spcPts val="1000"/>
              </a:spcAft>
              <a:defRPr sz="1100">
                <a:solidFill>
                  <a:srgbClr val="0F172A"/>
                </a:solidFill>
                <a:latin typeface="Segoe UI"/>
              </a:defRPr>
            </a:pPr>
            <a:r>
              <a:t>•  SafeProcessHandle.Open() / TryOpen() - lightweight handle by PID.</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Fire-and-forget background tool</a:t>
            </a:r>
            <a:br/>
            <a:r>
              <a:t>Process.StartAndForget("background-indexer", ["--silent"]);</a:t>
            </a:r>
            <a:br/>
            <a:br/>
            <a:r>
              <a:t>// No orphaned workers if the parent crashes (Windows)</a:t>
            </a:r>
            <a:br/>
            <a:r>
              <a:t>var info = new ProcessStartInfo("heavy-worker.exe")</a:t>
            </a:r>
            <a:br/>
            <a:r>
              <a:t>{</a:t>
            </a:r>
            <a:br/>
            <a:r>
              <a:t>    KillOnParentExit = true,</a:t>
            </a:r>
            <a:br/>
            <a:r>
              <a:t>    StartSuspended = true      // created, main thread frozen</a:t>
            </a:r>
            <a:br/>
            <a:r>
              <a:t>};</a:t>
            </a:r>
            <a:br/>
            <a:r>
              <a:t>using var worker = Process.Start(info)!;</a:t>
            </a:r>
            <a:br/>
            <a:r>
              <a:t>AttachProfiler(worker.Id);</a:t>
            </a:r>
            <a:br/>
            <a:r>
              <a:t>worker.SafeHandle.Resume();    // start executing now</a:t>
            </a:r>
            <a:br/>
            <a:br/>
            <a:r>
              <a:t>// Graceful shutdown on Linux/macOS</a:t>
            </a:r>
            <a:br/>
            <a:r>
              <a:t>worker.Signal(PosixSignal.SIGTERM);</a:t>
            </a:r>
            <a:br/>
            <a:br/>
            <a:r>
              <a:t>// Look up a process without exceptions</a:t>
            </a:r>
            <a:br/>
            <a:r>
              <a:t>if (Process.TryGetProcessById(pid, out Process? p))</a:t>
            </a:r>
            <a:br/>
            <a:r>
              <a:t>    using (p) Console.WriteLine(p.ProcessName);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8. LINQ: Built-In LeftJoin, RightJoin and FullJoin Operators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old left join: GroupJoin + SelectMany + DefaultIfEmpty - hard to read and easy to get wrong.</a:t>
            </a:r>
          </a:p>
          <a:p>
            <a:pPr>
              <a:spcAft>
                <a:spcPts val="1000"/>
              </a:spcAft>
              <a:defRPr sz="1100">
                <a:solidFill>
                  <a:srgbClr val="0F172A"/>
                </a:solidFill>
                <a:latin typeface="Segoe UI"/>
              </a:defRPr>
            </a:pPr>
            <a:r>
              <a:t>•  New operators LeftJoin, RightJoin and FullJoin ship for IEnumerable&lt;T&gt;, IQueryable&lt;T&gt; and IAsyncEnumerable&lt;T&gt;.</a:t>
            </a:r>
          </a:p>
          <a:p>
            <a:pPr>
              <a:spcAft>
                <a:spcPts val="1000"/>
              </a:spcAft>
              <a:defRPr sz="1100">
                <a:solidFill>
                  <a:srgbClr val="0F172A"/>
                </a:solidFill>
                <a:latin typeface="Segoe UI"/>
              </a:defRPr>
            </a:pPr>
            <a:r>
              <a:t>•  Without a result selector they return a (TOuter, TInner) tuple that deconstructs directly in foreach.</a:t>
            </a:r>
          </a:p>
          <a:p>
            <a:pPr>
              <a:spcAft>
                <a:spcPts val="1000"/>
              </a:spcAft>
              <a:defRPr sz="1100">
                <a:solidFill>
                  <a:srgbClr val="0F172A"/>
                </a:solidFill>
                <a:latin typeface="Segoe UI"/>
              </a:defRPr>
            </a:pPr>
            <a:r>
              <a:t>•  FullJoin keeps unmatched elements from both sides and fills the missing side with default (null).</a:t>
            </a:r>
          </a:p>
          <a:p>
            <a:pPr>
              <a:spcAft>
                <a:spcPts val="1000"/>
              </a:spcAft>
              <a:defRPr sz="1100">
                <a:solidFill>
                  <a:srgbClr val="0F172A"/>
                </a:solidFill>
                <a:latin typeface="Segoe UI"/>
              </a:defRPr>
            </a:pPr>
            <a:r>
              <a:t>•  IQueryable support means providers such as EF Core can translate them to SQL joins.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var products = new List&lt;(int Id, string Name, string? Category)&gt;</a:t>
            </a:r>
            <a:br/>
            <a:r>
              <a:t>{</a:t>
            </a:r>
            <a:br/>
            <a:r>
              <a:t>    (1, "Laptop", "Electronics"),</a:t>
            </a:r>
            <a:br/>
            <a:r>
              <a:t>    (3, "Orphan", null)              // no matching category</a:t>
            </a:r>
            <a:br/>
            <a:r>
              <a:t>};</a:t>
            </a:r>
            <a:br/>
            <a:r>
              <a:t>var categories = new List&lt;(string Name, string Description)&gt;</a:t>
            </a:r>
            <a:br/>
            <a:r>
              <a:t>{</a:t>
            </a:r>
            <a:br/>
            <a:r>
              <a:t>    ("Electronics", "Electronic devices"),</a:t>
            </a:r>
            <a:br/>
            <a:r>
              <a:t>    ("Furniture", "Office furniture") // no matching product</a:t>
            </a:r>
            <a:br/>
            <a:r>
              <a:t>};</a:t>
            </a:r>
            <a:br/>
            <a:br/>
            <a:r>
              <a:t>// 1. LeftJoin with tuple deconstruction</a:t>
            </a:r>
            <a:br/>
            <a:r>
              <a:t>foreach (var (p, c) in products.LeftJoin(</a:t>
            </a:r>
            <a:br/>
            <a:r>
              <a:t>             categories, p =&gt; p.Category, c =&gt; c.Name))</a:t>
            </a:r>
            <a:br/>
            <a:r>
              <a:t>    Console.WriteLine($"{p.Name}: {c.Description ?? "(none)"}");</a:t>
            </a:r>
            <a:br/>
            <a:br/>
            <a:r>
              <a:t>// 2. FullJoin keeps unmatched rows from both sides</a:t>
            </a:r>
            <a:br/>
            <a:r>
              <a:t>foreach (var (p, c) in products.FullJoin(</a:t>
            </a:r>
            <a:br/>
            <a:r>
              <a:t>             categories, p =&gt; p.Category, c =&gt; c.Name))</a:t>
            </a:r>
            <a:br/>
            <a:r>
              <a:t>    Console.WriteLine(</a:t>
            </a:r>
            <a:br/>
            <a:r>
              <a:t>        $"{p.Name ?? "(none)"}: {c.Description ??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9. Async Validation in DataAnnotations: AsyncValidationAttribute and ValidateObjectAsync</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limit of ValidationAttribute: it is synchronous, so database or HTTP checks meant blocking sync-over-async.</a:t>
            </a:r>
          </a:p>
          <a:p>
            <a:pPr>
              <a:spcAft>
                <a:spcPts val="1000"/>
              </a:spcAft>
              <a:defRPr sz="1100">
                <a:solidFill>
                  <a:srgbClr val="0F172A"/>
                </a:solidFill>
                <a:latin typeface="Segoe UI"/>
              </a:defRPr>
            </a:pPr>
            <a:r>
              <a:t>•  AsyncValidationAttribute: a base attribute with IsValidAsync(value, context, cancellationToken) and DI access.</a:t>
            </a:r>
          </a:p>
          <a:p>
            <a:pPr>
              <a:spcAft>
                <a:spcPts val="1000"/>
              </a:spcAft>
              <a:defRPr sz="1100">
                <a:solidFill>
                  <a:srgbClr val="0F172A"/>
                </a:solidFill>
                <a:latin typeface="Segoe UI"/>
              </a:defRPr>
            </a:pPr>
            <a:r>
              <a:t>•  IAsyncValidatableObject: whole-object async checks that yield IAsyncEnumerable&lt;ValidationResult&gt;.</a:t>
            </a:r>
          </a:p>
          <a:p>
            <a:pPr>
              <a:spcAft>
                <a:spcPts val="1000"/>
              </a:spcAft>
              <a:defRPr sz="1100">
                <a:solidFill>
                  <a:srgbClr val="0F172A"/>
                </a:solidFill>
                <a:latin typeface="Segoe UI"/>
              </a:defRPr>
            </a:pPr>
            <a:r>
              <a:t>•  Validator.ValidateObjectAsync runs all sync and async rules; IAsyncStartupValidator covers options at startup.</a:t>
            </a:r>
          </a:p>
          <a:p>
            <a:pPr>
              <a:spcAft>
                <a:spcPts val="1000"/>
              </a:spcAft>
              <a:defRPr sz="1100">
                <a:solidFill>
                  <a:srgbClr val="0F172A"/>
                </a:solidFill>
                <a:latin typeface="Segoe UI"/>
              </a:defRPr>
            </a:pPr>
            <a:r>
              <a:t>•  One rule, many hosts: the same attributes run in Minimal APIs, Blazor EditForm and Options validation.</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Custom async rule: check a VAT number against a registry</a:t>
            </a:r>
            <a:br/>
            <a:r>
              <a:t>public sealed class ValidVatNumberAttribute</a:t>
            </a:r>
            <a:br/>
            <a:r>
              <a:t>    : AsyncValidationAttribute</a:t>
            </a:r>
            <a:br/>
            <a:r>
              <a:t>{</a:t>
            </a:r>
            <a:br/>
            <a:r>
              <a:t>    protected override ValidationResult? IsValid(</a:t>
            </a:r>
            <a:br/>
            <a:r>
              <a:t>        object? value, ValidationContext context) =&gt;</a:t>
            </a:r>
            <a:br/>
            <a:r>
              <a:t>        throw new InvalidOperationException("Use IsValidAsync.");</a:t>
            </a:r>
            <a:br/>
            <a:br/>
            <a:r>
              <a:t>    protected override async Task&lt;ValidationResult?&gt; IsValidAsync(</a:t>
            </a:r>
            <a:br/>
            <a:r>
              <a:t>        object? value, ValidationContext context, CancellationToken ct)</a:t>
            </a:r>
            <a:br/>
            <a:r>
              <a:t>    {</a:t>
            </a:r>
            <a:br/>
            <a:r>
              <a:t>        var registry = context.GetRequiredService&lt;IVatRegistry&gt;();</a:t>
            </a:r>
            <a:br/>
            <a:r>
              <a:t>        return await registry.IsRegisteredAsync((string?)value, ct)</a:t>
            </a:r>
            <a:br/>
            <a:r>
              <a:t>            ? ValidationResult.Success</a:t>
            </a:r>
            <a:br/>
            <a:r>
              <a:t>            : new ValidationResult("VAT number not found.");</a:t>
            </a:r>
            <a:br/>
            <a:r>
              <a:t>    }</a:t>
            </a:r>
            <a:br/>
            <a:r>
              <a:t>}</a:t>
            </a:r>
            <a:br/>
            <a:br/>
            <a:r>
              <a:t>// Run all rules, including async ones:</a:t>
            </a:r>
            <a:br/>
            <a:r>
              <a:t>await Validator.ValidateObjectAsync(</a:t>
            </a:r>
            <a:br/>
            <a:r>
              <a:t>    invoice, validationContext, validateAllProperties: true, 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10. .NET 11 SDK: Multi-File Scripts (#:include), Native AOT CLI and dotnet test</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#:include for file-based apps: split a single-file C# program into several files and reference DLLs directly.</a:t>
            </a:r>
          </a:p>
          <a:p>
            <a:pPr>
              <a:spcAft>
                <a:spcPts val="1000"/>
              </a:spcAft>
              <a:defRPr sz="1100">
                <a:solidFill>
                  <a:srgbClr val="0F172A"/>
                </a:solidFill>
                <a:latin typeface="Segoe UI"/>
              </a:defRPr>
            </a:pPr>
            <a:r>
              <a:t>•  The dotnet CLI entry point is now compiled with Native AOT, so commands respond almost instantly.</a:t>
            </a:r>
          </a:p>
          <a:p>
            <a:pPr>
              <a:spcAft>
                <a:spcPts val="1000"/>
              </a:spcAft>
              <a:defRPr sz="1100">
                <a:solidFill>
                  <a:srgbClr val="0F172A"/>
                </a:solidFill>
                <a:latin typeface="Segoe UI"/>
              </a:defRPr>
            </a:pPr>
            <a:r>
              <a:t>•  dotnet run -e passes environment variables inline; CLI telemetry moves to OpenTelemetry.</a:t>
            </a:r>
          </a:p>
          <a:p>
            <a:pPr>
              <a:spcAft>
                <a:spcPts val="1000"/>
              </a:spcAft>
              <a:defRPr sz="1100">
                <a:solidFill>
                  <a:srgbClr val="0F172A"/>
                </a:solidFill>
                <a:latin typeface="Segoe UI"/>
              </a:defRPr>
            </a:pPr>
            <a:r>
              <a:t>•  dotnet test shows in-flight tests and adds --timeout and --maximum-failed-tests.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app.cs - a multi-file script without a .csproj (.NET 11)</a:t>
            </a:r>
            <a:br/>
            <a:r>
              <a:t>#:include helpers.cs</a:t>
            </a:r>
            <a:br/>
            <a:r>
              <a:t>#:include models/customer.cs</a:t>
            </a:r>
            <a:br/>
            <a:r>
              <a:t>#:include ./libs/MyLibrary.dll</a:t>
            </a:r>
            <a:br/>
            <a:br/>
            <a:r>
              <a:t>Console.WriteLine(Helpers.Format(new Customer("Olena")));</a:t>
            </a:r>
            <a:br/>
            <a:br/>
            <a:r>
              <a:t>// New CLI options in .NET 11:</a:t>
            </a:r>
            <a:br/>
            <a:r>
              <a:t>// Pass environment variables when running:</a:t>
            </a:r>
            <a:br/>
            <a:r>
              <a:t>//   dotnet run -e ASPNETCORE_ENVIRONMENT=Staging -e LOG_LEVEL=Debug</a:t>
            </a:r>
            <a:br/>
            <a:r>
              <a:t>// Limit failures and set a timeout for a test run:</a:t>
            </a:r>
            <a:br/>
            <a:r>
              <a:t>//   dotnet test --timeout 5m --maximum-failed-tests 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12. C# 15: Collection Expression Arguments with with(...)</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C# 12-14 gap: collection expressions [a, b, c] could not pass a capacity or an IEqualityComparer.</a:t>
            </a:r>
          </a:p>
          <a:p>
            <a:pPr>
              <a:spcAft>
                <a:spcPts val="1000"/>
              </a:spcAft>
              <a:defRPr sz="1100">
                <a:solidFill>
                  <a:srgbClr val="0F172A"/>
                </a:solidFill>
                <a:latin typeface="Segoe UI"/>
              </a:defRPr>
            </a:pPr>
            <a:r>
              <a:t>•  New with(...) element: placed first inside the brackets, its arguments go to the constructor or factory.</a:t>
            </a:r>
          </a:p>
          <a:p>
            <a:pPr>
              <a:spcAft>
                <a:spcPts val="1000"/>
              </a:spcAft>
              <a:defRPr sz="1100">
                <a:solidFill>
                  <a:srgbClr val="0F172A"/>
                </a:solidFill>
                <a:latin typeface="Segoe UI"/>
              </a:defRPr>
            </a:pPr>
            <a:r>
              <a:t>•  Capacity for List&lt;T&gt;: [with(capacity: n), .. items] avoids repeated array growth.</a:t>
            </a:r>
          </a:p>
          <a:p>
            <a:pPr>
              <a:spcAft>
                <a:spcPts val="1000"/>
              </a:spcAft>
              <a:defRPr sz="1100">
                <a:solidFill>
                  <a:srgbClr val="0F172A"/>
                </a:solidFill>
                <a:latin typeface="Segoe UI"/>
              </a:defRPr>
            </a:pPr>
            <a:r>
              <a:t>•  Comparers for sets and dictionaries: pass StringComparer.OrdinalIgnoreCase right in the literal.</a:t>
            </a:r>
          </a:p>
          <a:p>
            <a:pPr>
              <a:spcAft>
                <a:spcPts val="1000"/>
              </a:spcAft>
              <a:defRPr sz="1100">
                <a:solidFill>
                  <a:srgbClr val="0F172A"/>
                </a:solidFill>
                <a:latin typeface="Segoe UI"/>
              </a:defRPr>
            </a:pPr>
            <a:r>
              <a:t>•  Keeps one consistent collection syntax - no falling back to new List&lt;T&gt;(...) just for an argument.</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Collection expression arguments in C# 15</a:t>
            </a:r>
            <a:br/>
            <a:r>
              <a:t>string[] raw = ["one", "two", "three"];</a:t>
            </a:r>
            <a:br/>
            <a:br/>
            <a:r>
              <a:t>// 1. Pass capacity to List&lt;T&gt; - no reallocations</a:t>
            </a:r>
            <a:br/>
            <a:r>
              <a:t>List&lt;string&gt; names =</a:t>
            </a:r>
            <a:br/>
            <a:r>
              <a:t>    [with(capacity: raw.Length * 2), .. raw, "four"];</a:t>
            </a:r>
            <a:br/>
            <a:br/>
            <a:r>
              <a:t>// 2. Pass a comparer to HashSet&lt;string&gt;</a:t>
            </a:r>
            <a:br/>
            <a:r>
              <a:t>HashSet&lt;string&gt; tags =</a:t>
            </a:r>
            <a:br/>
            <a:r>
              <a:t>[</a:t>
            </a:r>
            <a:br/>
            <a:r>
              <a:t>    with(StringComparer.OrdinalIgnoreCase),</a:t>
            </a:r>
            <a:br/>
            <a:r>
              <a:t>    "DotNet", "DOTNET", "dotnet"</a:t>
            </a:r>
            <a:br/>
            <a:r>
              <a:t>];</a:t>
            </a:r>
            <a:br/>
            <a:r>
              <a:t>// tags.Count == 1 - case-insensitive duplicates</a:t>
            </a:r>
            <a:br/>
            <a:br/>
            <a:r>
              <a:t>// 3. Works for dictionaries too</a:t>
            </a:r>
            <a:br/>
            <a:r>
              <a:t>Dictionary&lt;string, int&gt; counts = [with(StringComparer.Ordinal)];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13. C# 15: Native Union Types with the union Keyword</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Discriminated unions arrive in C#: a value that holds exactly one of a fixed set of case types.</a:t>
            </a:r>
          </a:p>
          <a:p>
            <a:pPr>
              <a:spcAft>
                <a:spcPts val="1000"/>
              </a:spcAft>
              <a:defRPr sz="1100">
                <a:solidFill>
                  <a:srgbClr val="0F172A"/>
                </a:solidFill>
                <a:latin typeface="Segoe UI"/>
              </a:defRPr>
            </a:pPr>
            <a:r>
              <a:t>•  Concise declaration: public union Pet(Cat, Dog, Bird); with implicit conversions from every case type.</a:t>
            </a:r>
          </a:p>
          <a:p>
            <a:pPr>
              <a:spcAft>
                <a:spcPts val="1000"/>
              </a:spcAft>
              <a:defRPr sz="1100">
                <a:solidFill>
                  <a:srgbClr val="0F172A"/>
                </a:solidFill>
                <a:latin typeface="Segoe UI"/>
              </a:defRPr>
            </a:pPr>
            <a:r>
              <a:t>•  Exhaustive pattern matching: a switch over all cases needs no discard (_) branch.</a:t>
            </a:r>
          </a:p>
          <a:p>
            <a:pPr>
              <a:spcAft>
                <a:spcPts val="1000"/>
              </a:spcAft>
              <a:defRPr sz="1100">
                <a:solidFill>
                  <a:srgbClr val="0F172A"/>
                </a:solidFill>
                <a:latin typeface="Segoe UI"/>
              </a:defRPr>
            </a:pPr>
            <a:r>
              <a:t>•  Adding a new case later makes the compiler flag every switch that does not handle it.</a:t>
            </a:r>
          </a:p>
          <a:p>
            <a:pPr>
              <a:spcAft>
                <a:spcPts val="1000"/>
              </a:spcAft>
              <a:defRPr sz="1100">
                <a:solidFill>
                  <a:srgbClr val="0F172A"/>
                </a:solidFill>
                <a:latin typeface="Segoe UI"/>
              </a:defRPr>
            </a:pPr>
            <a:r>
              <a:t>•  First-class platform support: UnionAttribute and IUnion in the runtime, plus System.Text.Json and ASP.NET Core.</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Union types in C# 15</a:t>
            </a:r>
            <a:br/>
            <a:r>
              <a:t>public record class Cat(string Name, int LivesLeft);</a:t>
            </a:r>
            <a:br/>
            <a:r>
              <a:t>public record class Dog(string Name, string Breed);</a:t>
            </a:r>
            <a:br/>
            <a:r>
              <a:t>public record class Bird(string Name, bool CanFly);</a:t>
            </a:r>
            <a:br/>
            <a:br/>
            <a:r>
              <a:t>public union Pet(Cat, Dog, Bird);</a:t>
            </a:r>
            <a:br/>
            <a:br/>
            <a:r>
              <a:t>// Implicit conversion from a case type:</a:t>
            </a:r>
            <a:br/>
            <a:r>
              <a:t>Pet myPet = new Dog("Rex", "Shepherd");</a:t>
            </a:r>
            <a:br/>
            <a:br/>
            <a:r>
              <a:t>// Exhaustive switch - no '_' branch, no warning</a:t>
            </a:r>
            <a:br/>
            <a:r>
              <a:t>string description = myPet switch</a:t>
            </a:r>
            <a:br/>
            <a:r>
              <a:t>{</a:t>
            </a:r>
            <a:br/>
            <a:r>
              <a:t>    Dog d  =&gt; $"Dog {d.Name} ({d.Breed})",</a:t>
            </a:r>
            <a:br/>
            <a:r>
              <a:t>    Cat c  =&gt; $"Cat {c.Name}, lives left: {c.LivesLeft}",</a:t>
            </a:r>
            <a:br/>
            <a:r>
              <a:t>    Bird b =&gt; $"Bird {b.Name}"</a:t>
            </a:r>
            <a:br/>
            <a: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14. C# 15: Closed Class Hierarchies with the closed Modifier</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open-hierarchy problem: any external assembly can derive from an abstract class, so switches are never exhaustive.</a:t>
            </a:r>
          </a:p>
          <a:p>
            <a:pPr>
              <a:spcAft>
                <a:spcPts val="1000"/>
              </a:spcAft>
              <a:defRPr sz="1100">
                <a:solidFill>
                  <a:srgbClr val="0F172A"/>
                </a:solidFill>
                <a:latin typeface="Segoe UI"/>
              </a:defRPr>
            </a:pPr>
            <a:r>
              <a:t>•  closed modifier: the base type can be derived only inside the current assembly.</a:t>
            </a:r>
          </a:p>
          <a:p>
            <a:pPr>
              <a:spcAft>
                <a:spcPts val="1000"/>
              </a:spcAft>
              <a:defRPr sz="1100">
                <a:solidFill>
                  <a:srgbClr val="0F172A"/>
                </a:solidFill>
                <a:latin typeface="Segoe UI"/>
              </a:defRPr>
            </a:pPr>
            <a:r>
              <a:t>•  A closed class is implicitly abstract and cannot be combined with sealed or static.</a:t>
            </a:r>
          </a:p>
          <a:p>
            <a:pPr>
              <a:spcAft>
                <a:spcPts val="1000"/>
              </a:spcAft>
              <a:defRPr sz="1100">
                <a:solidFill>
                  <a:srgbClr val="0F172A"/>
                </a:solidFill>
                <a:latin typeface="Segoe UI"/>
              </a:defRPr>
            </a:pPr>
            <a:r>
              <a:t>•  The compiler knows every direct subtype, so switch expressions need no default branch.</a:t>
            </a:r>
          </a:p>
          <a:p>
            <a:pPr>
              <a:spcAft>
                <a:spcPts val="1000"/>
              </a:spcAft>
              <a:defRPr sz="1100">
                <a:solidFill>
                  <a:srgbClr val="0F172A"/>
                </a:solidFill>
                <a:latin typeface="Segoe UI"/>
              </a:defRPr>
            </a:pPr>
            <a:r>
              <a:t>•  Unions vs closed: union combines existing types; closed models a family of related types you own.</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A closed hierarchy of gate states in C# 15</a:t>
            </a:r>
            <a:br/>
            <a:r>
              <a:t>public closed record class GateState;</a:t>
            </a:r>
            <a:br/>
            <a:r>
              <a:t>public record class GateClosed : GateState;</a:t>
            </a:r>
            <a:br/>
            <a:r>
              <a:t>public record class GateOpen(float Percent) : GateState;</a:t>
            </a:r>
            <a:br/>
            <a:r>
              <a:t>public record class GateMaintenance(string Technician) : GateState;</a:t>
            </a:r>
            <a:br/>
            <a:br/>
            <a:r>
              <a:t>// No other assembly can add a subtype, so the switch is</a:t>
            </a:r>
            <a:br/>
            <a:r>
              <a:t>// exhaustive without a '_' branch (no CS8509 warning).</a:t>
            </a:r>
            <a:br/>
            <a:r>
              <a:t>public static string Format(GateState state) =&gt; state switch</a:t>
            </a:r>
            <a:br/>
            <a:r>
              <a:t>{</a:t>
            </a:r>
            <a:br/>
            <a:r>
              <a:t>    GateClosed                =&gt; "Gate is closed",</a:t>
            </a:r>
            <a:br/>
            <a:r>
              <a:t>    GateOpen(var percent)     =&gt; $"Gate is {percent}% open",</a:t>
            </a:r>
            <a:br/>
            <a:r>
              <a:t>    GateMaintenance(var tech) =&gt; $"Under maintenance ({tech})"</a:t>
            </a:r>
            <a:br/>
            <a: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15. C# 15: Extension Indexers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Extension blocks evolve: after extension methods and properties (C# 14), C# 15 adds extension indexers.</a:t>
            </a:r>
          </a:p>
          <a:p>
            <a:pPr>
              <a:spcAft>
                <a:spcPts val="1000"/>
              </a:spcAft>
              <a:defRPr sz="1100">
                <a:solidFill>
                  <a:srgbClr val="0F172A"/>
                </a:solidFill>
                <a:latin typeface="Segoe UI"/>
              </a:defRPr>
            </a:pPr>
            <a:r>
              <a:t>•  Syntax: inside extension(TReceiver receiver) declare public T this[TIndex index].</a:t>
            </a:r>
          </a:p>
          <a:p>
            <a:pPr>
              <a:spcAft>
                <a:spcPts val="1000"/>
              </a:spcAft>
              <a:defRPr sz="1100">
                <a:solidFill>
                  <a:srgbClr val="0F172A"/>
                </a:solidFill>
                <a:latin typeface="Segoe UI"/>
              </a:defRPr>
            </a:pPr>
            <a:r>
              <a:t>•  Natural indexing on types without their own indexer, such as IEnumerable&lt;T&gt; or bit masks.</a:t>
            </a:r>
          </a:p>
          <a:p>
            <a:pPr>
              <a:spcAft>
                <a:spcPts val="1000"/>
              </a:spcAft>
              <a:defRPr sz="1100">
                <a:solidFill>
                  <a:srgbClr val="0F172A"/>
                </a:solidFill>
                <a:latin typeface="Segoe UI"/>
              </a:defRPr>
            </a:pPr>
            <a:r>
              <a:t>•  The receiver must be named, because an indexer is always an instance member.</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Extension indexers in C# 15</a:t>
            </a:r>
            <a:br/>
            <a:r>
              <a:t>public static class SequenceExtensions</a:t>
            </a:r>
            <a:br/>
            <a:r>
              <a:t>{</a:t>
            </a:r>
            <a:br/>
            <a:r>
              <a:t>    // Indexer for any IEnumerable&lt;int&gt;</a:t>
            </a:r>
            <a:br/>
            <a:r>
              <a:t>    extension(IEnumerable&lt;int&gt; sequence)</a:t>
            </a:r>
            <a:br/>
            <a:r>
              <a:t>    {</a:t>
            </a:r>
            <a:br/>
            <a:r>
              <a:t>        public int this[int index] =&gt; sequence.ElementAt(index);</a:t>
            </a:r>
            <a:br/>
            <a:r>
              <a:t>    }</a:t>
            </a:r>
            <a:br/>
            <a:br/>
            <a:r>
              <a:t>    // Read individual bits of a 64-bit mask</a:t>
            </a:r>
            <a:br/>
            <a:r>
              <a:t>    extension(ulong bitmask)</a:t>
            </a:r>
            <a:br/>
            <a:r>
              <a:t>    {</a:t>
            </a:r>
            <a:br/>
            <a:r>
              <a:t>        public bool this[int bit] =&gt; (bitmask &amp; (1UL &lt;&lt; bit)) != 0;</a:t>
            </a:r>
            <a:br/>
            <a:r>
              <a:t>    }</a:t>
            </a:r>
            <a:br/>
            <a:r>
              <a:t>}</a:t>
            </a:r>
            <a:br/>
            <a:br/>
            <a:r>
              <a:t>// Usage:</a:t>
            </a:r>
            <a:br/>
            <a:r>
              <a:t>IEnumerable&lt;int&gt; numbers = Enumerable.Range(10, 5);</a:t>
            </a:r>
            <a:br/>
            <a:r>
              <a:t>int third = numbers[2];   // calls the extension indexer -&gt; 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16. C# 15: Labeled break and continue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nested-loop problem: leaving an outer loop from an inner one needed boolean flags or goto.</a:t>
            </a:r>
          </a:p>
          <a:p>
            <a:pPr>
              <a:spcAft>
                <a:spcPts val="1000"/>
              </a:spcAft>
              <a:defRPr sz="1100">
                <a:solidFill>
                  <a:srgbClr val="0F172A"/>
                </a:solidFill>
                <a:latin typeface="Segoe UI"/>
              </a:defRPr>
            </a:pPr>
            <a:r>
              <a:t>•  break label; ends the labeled outer loop or switch immediately.</a:t>
            </a:r>
          </a:p>
          <a:p>
            <a:pPr>
              <a:spcAft>
                <a:spcPts val="1000"/>
              </a:spcAft>
              <a:defRPr sz="1100">
                <a:solidFill>
                  <a:srgbClr val="0F172A"/>
                </a:solidFill>
                <a:latin typeface="Segoe UI"/>
              </a:defRPr>
            </a:pPr>
            <a:r>
              <a:t>•  continue label; jumps straight to the next iteration of the labeled outer loop.</a:t>
            </a:r>
          </a:p>
          <a:p>
            <a:pPr>
              <a:spcAft>
                <a:spcPts val="1000"/>
              </a:spcAft>
              <a:defRPr sz="1100">
                <a:solidFill>
                  <a:srgbClr val="0F172A"/>
                </a:solidFill>
                <a:latin typeface="Segoe UI"/>
              </a:defRPr>
            </a:pPr>
            <a:r>
              <a:t>•  Analyzer IDE0410 finds old flag-based patterns and offers an automatic refactoring.</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Clean nested-loop control in C# 15 - no flags, no goto</a:t>
            </a:r>
            <a:br/>
            <a:r>
              <a:t>outerLoop:</a:t>
            </a:r>
            <a:br/>
            <a:r>
              <a:t>for (int row = 0; row &lt; grid.Height; row++)</a:t>
            </a:r>
            <a:br/>
            <a:r>
              <a:t>{</a:t>
            </a:r>
            <a:br/>
            <a:r>
              <a:t>    for (int col = 0; col &lt; grid.Width; col++)</a:t>
            </a:r>
            <a:br/>
            <a:r>
              <a:t>    {</a:t>
            </a:r>
            <a:br/>
            <a:r>
              <a:t>        if (grid[row, col].IsRowCorrupted)</a:t>
            </a:r>
            <a:br/>
            <a:r>
              <a:t>        {</a:t>
            </a:r>
            <a:br/>
            <a:r>
              <a:t>            // Skip to the next row of the outer loop</a:t>
            </a:r>
            <a:br/>
            <a:r>
              <a:t>            continue outerLoop;</a:t>
            </a:r>
            <a:br/>
            <a:r>
              <a:t>        }</a:t>
            </a:r>
            <a:br/>
            <a:br/>
            <a:r>
              <a:t>        if (grid[row, col].IsTargetFound)</a:t>
            </a:r>
            <a:br/>
            <a:r>
              <a:t>        {</a:t>
            </a:r>
            <a:br/>
            <a:r>
              <a:t>            // Exit both loops at once</a:t>
            </a:r>
            <a:br/>
            <a:r>
              <a:t>            break outerLoop;</a:t>
            </a:r>
            <a:br/>
            <a:r>
              <a:t>        }</a:t>
            </a:r>
            <a:br/>
            <a:r>
              <a:t>    }</a:t>
            </a:r>
            <a:br/>
            <a: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18. ASP.NET Core 11: Async Validation in Minimal APIs, Localization and [ShortCircuit]</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Microsoft.Extensions.Validation leaves preview: AddValidation() now runs async rules before the endpoint executes.</a:t>
            </a:r>
          </a:p>
          <a:p>
            <a:pPr>
              <a:spcAft>
                <a:spcPts val="1000"/>
              </a:spcAft>
              <a:defRPr sz="1100">
                <a:solidFill>
                  <a:srgbClr val="0F172A"/>
                </a:solidFill>
                <a:latin typeface="Segoe UI"/>
              </a:defRPr>
            </a:pPr>
            <a:r>
              <a:t>•  Async checks on properties and collection items run concurrently, which keeps request latency low.</a:t>
            </a:r>
          </a:p>
          <a:p>
            <a:pPr>
              <a:spcAft>
                <a:spcPts val="1000"/>
              </a:spcAft>
              <a:defRPr sz="1100">
                <a:solidFill>
                  <a:srgbClr val="0F172A"/>
                </a:solidFill>
                <a:latin typeface="Segoe UI"/>
              </a:defRPr>
            </a:pPr>
            <a:r>
              <a:t>•  Built-in localization of validation messages and [Display] names through IStringLocalizerFactory.</a:t>
            </a:r>
          </a:p>
          <a:p>
            <a:pPr>
              <a:spcAft>
                <a:spcPts val="1000"/>
              </a:spcAft>
              <a:defRPr sz="1100">
                <a:solidFill>
                  <a:srgbClr val="0F172A"/>
                </a:solidFill>
                <a:latin typeface="Segoe UI"/>
              </a:defRPr>
            </a:pPr>
            <a:r>
              <a:t>•  [ShortCircuit] ends the middleware pipeline right after routing - for Minimal APIs and MVC actions.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Localized, async-aware validation for Minimal APIs</a:t>
            </a:r>
            <a:br/>
            <a:r>
              <a:t>builder.Services.AddLocalization();</a:t>
            </a:r>
            <a:br/>
            <a:r>
              <a:t>builder.Services.AddValidation(options =&gt;</a:t>
            </a:r>
            <a:br/>
            <a:r>
              <a:t>{</a:t>
            </a:r>
            <a:br/>
            <a:r>
              <a:t>    options.LocalizerProvider = (_, factory) =&gt;</a:t>
            </a:r>
            <a:br/>
            <a:r>
              <a:t>        factory.Create(typeof(SharedValidationResources));</a:t>
            </a:r>
            <a:br/>
            <a:r>
              <a:t>});</a:t>
            </a:r>
            <a:br/>
            <a:br/>
            <a:r>
              <a:t>// 2. Skip the rest of the pipeline (auth, CORS, sessions)</a:t>
            </a:r>
            <a:br/>
            <a:r>
              <a:t>app.MapGet("/healthz", [ShortCircuit] () =&gt; "Healthy");</a:t>
            </a:r>
            <a:br/>
            <a:br/>
            <a:r>
              <a:t>[ApiController, Route("robots.txt"), ShortCircuit(200)]</a:t>
            </a:r>
            <a:br/>
            <a:r>
              <a:t>public class RobotsController : ControllerBase</a:t>
            </a:r>
            <a:br/>
            <a:r>
              <a:t>{</a:t>
            </a:r>
            <a:br/>
            <a:r>
              <a:t>    [HttpGet]</a:t>
            </a:r>
            <a:br/>
            <a:r>
              <a:t>    public IActionResult Get() =&gt;</a:t>
            </a:r>
            <a:br/>
            <a:r>
              <a:t>        Content("User-agent: *\nDisallow:", "text/plain");</a:t>
            </a:r>
            <a:br/>
            <a: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19. ASP.NET Core 11: OpenAPI 3.2 by Default, HTTP QUERY and Binary File Schemas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Microsoft.AspNetCore.OpenApi now generates OpenAPI 3.2.0 documents by default.</a:t>
            </a:r>
          </a:p>
          <a:p>
            <a:pPr>
              <a:spcAft>
                <a:spcPts val="1000"/>
              </a:spcAft>
              <a:defRPr sz="1100">
                <a:solidFill>
                  <a:srgbClr val="0F172A"/>
                </a:solidFill>
                <a:latin typeface="Segoe UI"/>
              </a:defRPr>
            </a:pPr>
            <a:r>
              <a:t>•  HTTP QUERY: a safe, idempotent method that carries a request body - ideal for complex search filters.</a:t>
            </a:r>
          </a:p>
          <a:p>
            <a:pPr>
              <a:spcAft>
                <a:spcPts val="1000"/>
              </a:spcAft>
              <a:defRPr sz="1100">
                <a:solidFill>
                  <a:srgbClr val="0F172A"/>
                </a:solidFill>
                <a:latin typeface="Segoe UI"/>
              </a:defRPr>
            </a:pPr>
            <a:r>
              <a:t>•  File results (FileContentResult, FileStreamResult, FileStreamHttpResult) map to type: string, format: binary.</a:t>
            </a:r>
          </a:p>
          <a:p>
            <a:pPr>
              <a:spcAft>
                <a:spcPts val="1000"/>
              </a:spcAft>
              <a:defRPr sz="1100">
                <a:solidFill>
                  <a:srgbClr val="0F172A"/>
                </a:solidFill>
                <a:latin typeface="Segoe UI"/>
              </a:defRPr>
            </a:pPr>
            <a:r>
              <a:t>•  [Obsolete] becomes deprecated: true on endpoints, models and properties; several Produces content types are kept.</a:t>
            </a:r>
          </a:p>
          <a:p>
            <a:pPr>
              <a:spcAft>
                <a:spcPts val="1000"/>
              </a:spcAft>
              <a:defRPr sz="1100">
                <a:solidFill>
                  <a:srgbClr val="0F172A"/>
                </a:solidFill>
                <a:latin typeface="Segoe UI"/>
              </a:defRPr>
            </a:pPr>
            <a:r>
              <a:t>•  Better documents mean better generated clients - review NSwag/Kiota or OpenAPI Generator output after upgrading.</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OpenAPI 3.2 by default + an HTTP QUERY endpoint</a:t>
            </a:r>
            <a:br/>
            <a:r>
              <a:t>builder.Services.AddOpenApi(); // OpenApiSpecVersion.OpenApi3_2</a:t>
            </a:r>
            <a:br/>
            <a:br/>
            <a:r>
              <a:t>app.MapMethods("/api/catalog/search", ["QUERY"],</a:t>
            </a:r>
            <a:br/>
            <a:r>
              <a:t>    (ComplexSearchFilter filter) =&gt;</a:t>
            </a:r>
            <a:br/>
            <a:r>
              <a:t>        Results.Ok(SearchEngine.Execute(filter)));</a:t>
            </a:r>
            <a:br/>
            <a:br/>
            <a:r>
              <a:t>// 2. Correct binary schema for file downloads</a:t>
            </a:r>
            <a:br/>
            <a:r>
              <a:t>app.MapGet("/reports/{id}/pdf", (int id) =&gt;</a:t>
            </a:r>
            <a:br/>
            <a:r>
              <a:t>        TypedResults.File(GeneratePdf(id), "application/pdf"))</a:t>
            </a:r>
            <a:br/>
            <a:r>
              <a:t>   .Produces&lt;FileContentHttpResult&gt;(contentType: "application/pdf");</a:t>
            </a:r>
            <a:br/>
            <a:br/>
            <a:r>
              <a:t>// 3. [Obsolete] -&gt; "deprecated": true in the document</a:t>
            </a:r>
            <a:br/>
            <a:r>
              <a:t>[Obsolete("Use /api/v2/orders")]</a:t>
            </a:r>
            <a:br/>
            <a:r>
              <a:t>static IResult GetOrdersV1() =&gt; Results.Ok();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20. ASP.NET Core 11: SignalR Authentication Refresh and Client-Side Cancellation</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problem: when a short-lived JWT expired, a SignalR connection was either left stale or forcibly dropped.</a:t>
            </a:r>
          </a:p>
          <a:p>
            <a:pPr>
              <a:spcAft>
                <a:spcPts val="1000"/>
              </a:spcAft>
              <a:defRPr sz="1100">
                <a:solidFill>
                  <a:srgbClr val="0F172A"/>
                </a:solidFill>
                <a:latin typeface="Segoe UI"/>
              </a:defRPr>
            </a:pPr>
            <a:r>
              <a:t>•  Authentication Refresh: a /refresh endpoint lets clients renew the token and claims without reconnecting.</a:t>
            </a:r>
          </a:p>
          <a:p>
            <a:pPr>
              <a:spcAft>
                <a:spcPts val="1000"/>
              </a:spcAft>
              <a:defRPr sz="1100">
                <a:solidFill>
                  <a:srgbClr val="0F172A"/>
                </a:solidFill>
                <a:latin typeface="Segoe UI"/>
              </a:defRPr>
            </a:pPr>
            <a:r>
              <a:t>•  .NET and TypeScript clients schedule the refresh from tokenLifetimeSeconds or call RefreshAuthenticationAsync.</a:t>
            </a:r>
          </a:p>
          <a:p>
            <a:pPr>
              <a:spcAft>
                <a:spcPts val="1000"/>
              </a:spcAft>
              <a:defRPr sz="1100">
                <a:solidFill>
                  <a:srgbClr val="0F172A"/>
                </a:solidFill>
                <a:latin typeface="Segoe UI"/>
              </a:defRPr>
            </a:pPr>
            <a:r>
              <a:t>•  Cancelling the CancellationToken passed to InvokeAsync now cancels the hub method on the server too.</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Server: enable seamless token refresh for a hub</a:t>
            </a:r>
            <a:br/>
            <a:r>
              <a:t>app.MapHub&lt;TradingHub&gt;("/trading", options =&gt;</a:t>
            </a:r>
            <a:br/>
            <a:r>
              <a:t>{</a:t>
            </a:r>
            <a:br/>
            <a:r>
              <a:t>    options.EnableAuthenticationRefresh = true;</a:t>
            </a:r>
            <a:br/>
            <a:r>
              <a:t>    options.CloseOnAuthenticationExpiration = true;</a:t>
            </a:r>
            <a:br/>
            <a:r>
              <a:t>});</a:t>
            </a:r>
            <a:br/>
            <a:br/>
            <a:r>
              <a:t>// 2. Client: cancellation now reaches the server method</a:t>
            </a:r>
            <a:br/>
            <a:r>
              <a:t>using var cts =</a:t>
            </a:r>
            <a:br/>
            <a:r>
              <a:t>    new CancellationTokenSource(TimeSpan.FromSeconds(5));</a:t>
            </a:r>
            <a:br/>
            <a:br/>
            <a:r>
              <a:t>await hubConnection.InvokeAsync(</a:t>
            </a:r>
            <a:br/>
            <a:r>
              <a:t>    "CalculatePortfolioRisk", portfolioId, cts.Token);</a:t>
            </a:r>
            <a:br/>
            <a:r>
              <a:t>// If cts fires, the server-side method is cancelled as well.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21. ASP.NET Core 11: Built-In MCP Server Template and IOutputCachePolicyProvider</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Model Context Protocol (MCP): an open standard that lets AI agents (Copilot, Claude, VS) call your tools and read your data.</a:t>
            </a:r>
          </a:p>
          <a:p>
            <a:pPr>
              <a:spcAft>
                <a:spcPts val="1000"/>
              </a:spcAft>
              <a:defRPr sz="1100">
                <a:solidFill>
                  <a:srgbClr val="0F172A"/>
                </a:solidFill>
                <a:latin typeface="Segoe UI"/>
              </a:defRPr>
            </a:pPr>
            <a:r>
              <a:t>•  dotnet new mcpserver ships in the .NET 11 SDK: a ready MCP server on the official C# SDK, with sample tools.</a:t>
            </a:r>
          </a:p>
          <a:p>
            <a:pPr>
              <a:spcAft>
                <a:spcPts val="1000"/>
              </a:spcAft>
              <a:defRPr sz="1100">
                <a:solidFill>
                  <a:srgbClr val="0F172A"/>
                </a:solidFill>
                <a:latin typeface="Segoe UI"/>
              </a:defRPr>
            </a:pPr>
            <a:r>
              <a:t>•  Expose existing business operations to agents as typed C# methods, reusing your DI, auth and logging.</a:t>
            </a:r>
          </a:p>
          <a:p>
            <a:pPr>
              <a:spcAft>
                <a:spcPts val="1000"/>
              </a:spcAft>
              <a:defRPr sz="1100">
                <a:solidFill>
                  <a:srgbClr val="0F172A"/>
                </a:solidFill>
                <a:latin typeface="Segoe UI"/>
              </a:defRPr>
            </a:pPr>
            <a:r>
              <a:t>•  IOutputCachePolicyProvider: resolve output-cache policies at runtime, e.g. per tenant from a database.</a:t>
            </a:r>
          </a:p>
          <a:p>
            <a:pPr>
              <a:spcAft>
                <a:spcPts val="1000"/>
              </a:spcAft>
              <a:defRPr sz="1100">
                <a:solidFill>
                  <a:srgbClr val="0F172A"/>
                </a:solidFill>
                <a:latin typeface="Segoe UI"/>
              </a:defRPr>
            </a:pPr>
            <a:r>
              <a:t>•  WSL: dotnet dev-certs https --trust now trusts the certificate in both Linux and Windows.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Create a Model Context Protocol server from the SDK</a:t>
            </a:r>
            <a:br/>
            <a:r>
              <a:t>dotnet new mcpserver -o CompanyKnowledgeMcpServer</a:t>
            </a:r>
            <a:br/>
            <a:br/>
            <a:r>
              <a:t>// 2. Per-tenant output cache policies resolved at runtime</a:t>
            </a:r>
            <a:br/>
            <a:r>
              <a:t>public class TenantCachePolicyProvider(ITenantPolicyStore store)</a:t>
            </a:r>
            <a:br/>
            <a:r>
              <a:t>    : IOutputCachePolicyProvider</a:t>
            </a:r>
            <a:br/>
            <a:r>
              <a:t>{</a:t>
            </a:r>
            <a:br/>
            <a:r>
              <a:t>    public IReadOnlyList&lt;IOutputCachePolicy&gt; GetBasePolicies() =&gt; [];</a:t>
            </a:r>
            <a:br/>
            <a:br/>
            <a:r>
              <a:t>    public async ValueTask&lt;IOutputCachePolicy?&gt; GetPolicyAsync(</a:t>
            </a:r>
            <a:br/>
            <a:r>
              <a:t>        string policyName)</a:t>
            </a:r>
            <a:br/>
            <a:r>
              <a:t>    {</a:t>
            </a:r>
            <a:br/>
            <a:r>
              <a:t>        // Each tenant can have its own cache TTL</a:t>
            </a:r>
            <a:br/>
            <a:r>
              <a:t>        return await store.ResolvePolicyAsync(policyName);</a:t>
            </a:r>
            <a:br/>
            <a:r>
              <a:t>    }</a:t>
            </a:r>
            <a:br/>
            <a: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23. Blazor 11: Client-Side Validation in Static SSR and Async Validation in EditForm</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Client-side validation in Static SSR: instant browser feedback from the same C# model rules, no round trip.</a:t>
            </a:r>
          </a:p>
          <a:p>
            <a:pPr>
              <a:spcAft>
                <a:spcPts val="1000"/>
              </a:spcAft>
              <a:defRPr sz="1100">
                <a:solidFill>
                  <a:srgbClr val="0F172A"/>
                </a:solidFill>
                <a:latin typeface="Segoe UI"/>
              </a:defRPr>
            </a:pPr>
            <a:r>
              <a:t>•  &lt;DataAnnotationsValidator /&gt; emits rule metadata into the HTML; blazor.web.js validates fields as you type.</a:t>
            </a:r>
          </a:p>
          <a:p>
            <a:pPr>
              <a:spcAft>
                <a:spcPts val="1000"/>
              </a:spcAft>
              <a:defRPr sz="1100">
                <a:solidFill>
                  <a:srgbClr val="0F172A"/>
                </a:solidFill>
                <a:latin typeface="Segoe UI"/>
              </a:defRPr>
            </a:pPr>
            <a:r>
              <a:t>•  EditForm runs async rules: AsyncValidationAttribute, IAsyncValidatableObject and RegisterAsyncFieldValidator.</a:t>
            </a:r>
          </a:p>
          <a:p>
            <a:pPr>
              <a:spcAft>
                <a:spcPts val="1000"/>
              </a:spcAft>
              <a:defRPr sz="1100">
                <a:solidFill>
                  <a:srgbClr val="0F172A"/>
                </a:solidFill>
                <a:latin typeface="Segoe UI"/>
              </a:defRPr>
            </a:pPr>
            <a:r>
              <a:t>•  EditContext.IsValidationPending / IsValidationFaulted drive spinners; stale checks are cancelled automatically.</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Async field validation with a progress indicator *@</a:t>
            </a:r>
            <a:br/>
            <a:r>
              <a:t>&lt;EditForm EditContext="editContext" OnValidSubmit="RegisterAsync"&gt;</a:t>
            </a:r>
            <a:br/>
            <a:r>
              <a:t>    &lt;DataAnnotationsValidator /&gt;</a:t>
            </a:r>
            <a:br/>
            <a:br/>
            <a:r>
              <a:t>    &lt;InputText @bind-Value="model.Username" /&gt;</a:t>
            </a:r>
            <a:br/>
            <a:r>
              <a:t>    @if (editContext.IsValidationPending(() =&gt; model.Username))</a:t>
            </a:r>
            <a:br/>
            <a:r>
              <a:t>    {</a:t>
            </a:r>
            <a:br/>
            <a:r>
              <a:t>        &lt;span class="spinner"&gt;Checking availability...&lt;/span&gt;</a:t>
            </a:r>
            <a:br/>
            <a:r>
              <a:t>    }</a:t>
            </a:r>
            <a:br/>
            <a:r>
              <a:t>    &lt;ValidationMessage For="() =&gt; model.Username" /&gt;</a:t>
            </a:r>
            <a:br/>
            <a:br/>
            <a:r>
              <a:t>    &lt;button type="submit"&gt;Sign up&lt;/button&gt;</a:t>
            </a:r>
            <a:br/>
            <a:r>
              <a:t>&lt;/EditForm&gt;</a:t>
            </a:r>
            <a:br/>
            <a:br/>
            <a:r>
              <a:t>@code {</a:t>
            </a:r>
            <a:br/>
            <a:r>
              <a:t>    // EditContext owns the CancellationToken and cancels</a:t>
            </a:r>
            <a:br/>
            <a:r>
              <a:t>    // outdated checks while the user keeps typing.</a:t>
            </a:r>
            <a:br/>
            <a: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24. Blazor 11: Virtualize&lt;TItem&gt; with Variable Item Height, ScrollToItemAsync and CSP</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Variable item height: Virtualize no longer assumes equal row heights and measures items at runtime.</a:t>
            </a:r>
          </a:p>
          <a:p>
            <a:pPr>
              <a:spcAft>
                <a:spcPts val="1000"/>
              </a:spcAft>
              <a:defRPr sz="1100">
                <a:solidFill>
                  <a:srgbClr val="0F172A"/>
                </a:solidFill>
                <a:latin typeface="Segoe UI"/>
              </a:defRPr>
            </a:pPr>
            <a:r>
              <a:t>•  Hybrid scroll anchoring: native CSS scroll anchoring plus a ResizeObserver fallback for tables - no content jumps.</a:t>
            </a:r>
          </a:p>
          <a:p>
            <a:pPr>
              <a:spcAft>
                <a:spcPts val="1000"/>
              </a:spcAft>
              <a:defRPr sz="1100">
                <a:solidFill>
                  <a:srgbClr val="0F172A"/>
                </a:solidFill>
                <a:latin typeface="Segoe UI"/>
              </a:defRPr>
            </a:pPr>
            <a:r>
              <a:t>•  New positioning APIs: InitialItemIndex, ScrollToItemAsync(index) and AnchorMode (Start/End) for feeds and chats.</a:t>
            </a:r>
          </a:p>
          <a:p>
            <a:pPr>
              <a:spcAft>
                <a:spcPts val="1000"/>
              </a:spcAft>
              <a:defRPr sz="1100">
                <a:solidFill>
                  <a:srgbClr val="0F172A"/>
                </a:solidFill>
                <a:latin typeface="Segoe UI"/>
              </a:defRPr>
            </a:pPr>
            <a:r>
              <a:t>•  Strict CSP compatibility: inline style attributes replaced by data-blazor-virtualize-* attributes.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Variable-height virtualization with start index and anchoring *@</a:t>
            </a:r>
            <a:br/>
            <a:r>
              <a:t>&lt;Virtualize TItem="LogEntry" Items="logs"</a:t>
            </a:r>
            <a:br/>
            <a:r>
              <a:t>            InitialItemIndex="500"</a:t>
            </a:r>
            <a:br/>
            <a:r>
              <a:t>            AnchorMode="VirtualizeAnchorMode.End"</a:t>
            </a:r>
            <a:br/>
            <a:r>
              <a:t>            @ref="virtualList"&gt;</a:t>
            </a:r>
            <a:br/>
            <a:r>
              <a:t>    &lt;div class="log-row"&gt;@context.MultiLineMessage&lt;/div&gt;</a:t>
            </a:r>
            <a:br/>
            <a:r>
              <a:t>&lt;/Virtualize&gt;</a:t>
            </a:r>
            <a:br/>
            <a:br/>
            <a:r>
              <a:t>&lt;button @onclick="ScrollToTopAsync"&gt;Back to top&lt;/button&gt;</a:t>
            </a:r>
            <a:br/>
            <a:br/>
            <a:r>
              <a:t>@code {</a:t>
            </a:r>
            <a:br/>
            <a:r>
              <a:t>    Virtualize&lt;LogEntry&gt; virtualList = default!;</a:t>
            </a:r>
            <a:br/>
            <a:br/>
            <a:r>
              <a:t>    async Task ScrollToTopAsync() =&gt;</a:t>
            </a:r>
            <a:br/>
            <a:r>
              <a:t>        await virtualList.ScrollToItemAsync(0);</a:t>
            </a:r>
            <a:br/>
            <a: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25. Blazor 11: Circuit Pause and Server-Side Browser Configuration</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The cost of Interactive Server: every open tab keeps a SignalR circuit and its component state in server memory.</a:t>
            </a:r>
          </a:p>
          <a:p>
            <a:pPr>
              <a:spcAft>
                <a:spcPts val="1000"/>
              </a:spcAft>
              <a:defRPr sz="1100">
                <a:solidFill>
                  <a:srgbClr val="0F172A"/>
                </a:solidFill>
                <a:latin typeface="Segoe UI"/>
              </a:defRPr>
            </a:pPr>
            <a:r>
              <a:t>•  AddAutoPause: pauses and evicts the circuit when a tab stays hidden longer than a set delay, then restores it when the user returns.</a:t>
            </a:r>
          </a:p>
          <a:p>
            <a:pPr>
              <a:spcAft>
                <a:spcPts val="1000"/>
              </a:spcAft>
              <a:defRPr sz="1100">
                <a:solidFill>
                  <a:srgbClr val="0F172A"/>
                </a:solidFill>
                <a:latin typeface="Segoe UI"/>
              </a:defRPr>
            </a:pPr>
            <a:r>
              <a:t>•  Circuit.RequestCircuitPauseAsync: server-initiated pause, e.g. before a graceful restart or deployment.</a:t>
            </a:r>
          </a:p>
          <a:p>
            <a:pPr>
              <a:spcAft>
                <a:spcPts val="1000"/>
              </a:spcAft>
              <a:defRPr sz="1100">
                <a:solidFill>
                  <a:srgbClr val="0F172A"/>
                </a:solidFill>
                <a:latin typeface="Segoe UI"/>
              </a:defRPr>
            </a:pPr>
            <a:r>
              <a:t>•  WithBrowserOptions: reconnection, logging, culture and timeouts configured in server C# instead of Blazor.start().</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Configure browser-side behavior and auto-pause in server C#</a:t>
            </a:r>
            <a:br/>
            <a:r>
              <a:t>app.MapRazorComponents&lt;App&gt;()</a:t>
            </a:r>
            <a:br/>
            <a:r>
              <a:t>    .AddInteractiveServerRenderMode()</a:t>
            </a:r>
            <a:br/>
            <a:r>
              <a:t>    .WithBrowserOptions(options =&gt;</a:t>
            </a:r>
            <a:br/>
            <a:r>
              <a:t>    {</a:t>
            </a:r>
            <a:br/>
            <a:r>
              <a:t>        options.LogLevel = LogLevel.Warning;</a:t>
            </a:r>
            <a:br/>
            <a:r>
              <a:t>        options.InteractiveServer.ReconnectionMaxRetries = 10;</a:t>
            </a:r>
            <a:br/>
            <a:br/>
            <a:r>
              <a:t>        // Pause the circuit 30s after the tab is hidden</a:t>
            </a:r>
            <a:br/>
            <a:r>
              <a:t>        options.AddAutoPause(p =&gt;</a:t>
            </a:r>
            <a:br/>
            <a:r>
              <a:t>            p.HiddenDelay = TimeSpan.FromSeconds(30));</a:t>
            </a:r>
            <a:br/>
            <a:r>
              <a:t>    });</a:t>
            </a:r>
            <a:br/>
            <a:br/>
            <a:r>
              <a:t>// Server-initiated pause, e.g. before a planned restart</a:t>
            </a:r>
            <a:br/>
            <a:r>
              <a:t>await circuit.RequestCircuitPauseAsync();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26. Blazor 11: Experimental AI Components (Components.AI and the AG-UI Protocol)</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Microsoft.AspNetCore.Components.AI: ready Razor components for agent UIs on top of IChatClient and AG-UI.</a:t>
            </a:r>
          </a:p>
          <a:p>
            <a:pPr>
              <a:spcAft>
                <a:spcPts val="1000"/>
              </a:spcAft>
              <a:defRPr sz="1100">
                <a:solidFill>
                  <a:srgbClr val="0F172A"/>
                </a:solidFill>
                <a:latin typeface="Segoe UI"/>
              </a:defRPr>
            </a:pPr>
            <a:r>
              <a:t>•  &lt;ChatPage&gt; and UIAgent: streaming responses split into typed blocks (RichContentBlock, ActivityContentBlock).</a:t>
            </a:r>
          </a:p>
          <a:p>
            <a:pPr>
              <a:spcAft>
                <a:spcPts val="1000"/>
              </a:spcAft>
              <a:defRPr sz="1100">
                <a:solidFill>
                  <a:srgbClr val="0F172A"/>
                </a:solidFill>
                <a:latin typeface="Segoe UI"/>
              </a:defRPr>
            </a:pPr>
            <a:r>
              <a:t>•  [ToolBlock] and UIActionBlock render typed progress and result cards for server and client tool calls.</a:t>
            </a:r>
          </a:p>
          <a:p>
            <a:pPr>
              <a:spcAft>
                <a:spcPts val="1000"/>
              </a:spcAft>
              <a:defRPr sz="1100">
                <a:solidFill>
                  <a:srgbClr val="0F172A"/>
                </a:solidFill>
                <a:latin typeface="Segoe UI"/>
              </a:defRPr>
            </a:pPr>
            <a:r>
              <a:t>•  Human in the loop: &lt;FunctionApprovalBlock&gt; pauses the agent until the user approves or rejects an action.</a:t>
            </a:r>
          </a:p>
          <a:p>
            <a:pPr>
              <a:spcAft>
                <a:spcPts val="1000"/>
              </a:spcAft>
              <a:defRPr sz="1100">
                <a:solidFill>
                  <a:srgbClr val="0F172A"/>
                </a:solidFill>
                <a:latin typeface="Segoe UI"/>
              </a:defRPr>
            </a:pPr>
            <a:r>
              <a:t>•  Predictive state (SetPredictiveState) previews proposed document edits with instant rollback.</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@using Microsoft.AspNetCore.Components.AI</a:t>
            </a:r>
            <a:br/>
            <a:br/>
            <a:r>
              <a:t>&lt;ChatPage Agent="agent" Placeholder="Ask the agent..."&gt;</a:t>
            </a:r>
            <a:br/>
            <a:r>
              <a:t>    &lt;MessageListContent&gt;</a:t>
            </a:r>
            <a:br/>
            <a:r>
              <a:t>        @* 1. Custom card for a weather tool call *@</a:t>
            </a:r>
            <a:br/>
            <a:r>
              <a:t>        &lt;BlockRenderer TBlock="WeatherToolBlock" Context="tool"&gt;</a:t>
            </a:r>
            <a:br/>
            <a:r>
              <a:t>            @if (tool.HasResult)</a:t>
            </a:r>
            <a:br/>
            <a:r>
              <a:t>            {</a:t>
            </a:r>
            <a:br/>
            <a:r>
              <a:t>                &lt;div class="card"&gt;@tool.Location: @tool.Weather?.Temp C&lt;/div&gt;</a:t>
            </a:r>
            <a:br/>
            <a:r>
              <a:t>            }</a:t>
            </a:r>
            <a:br/>
            <a:r>
              <a:t>            else</a:t>
            </a:r>
            <a:br/>
            <a:r>
              <a:t>            {</a:t>
            </a:r>
            <a:br/>
            <a:r>
              <a:t>                &lt;span&gt;Fetching weather for @tool.Location...&lt;/span&gt;</a:t>
            </a:r>
            <a:br/>
            <a:r>
              <a:t>            }</a:t>
            </a:r>
            <a:br/>
            <a:r>
              <a:t>        &lt;/BlockRenderer&gt;</a:t>
            </a:r>
            <a:br/>
            <a:br/>
            <a:r>
              <a:t>        @* 2. Ask the user before the agent acts *@</a:t>
            </a:r>
            <a:br/>
            <a:r>
              <a:t>        &lt;BlockRenderer TBlock="FunctionApprovalBlock" Context="a"&gt;</a:t>
            </a:r>
            <a:br/>
            <a:r>
              <a:t>            &lt;p&gt;Allow the agent to run &lt;code&gt;@a.ToolName&lt;/code&gt;?&lt;/p&gt;</a:t>
            </a:r>
            <a:br/>
            <a:r>
              <a:t>            &lt;button @onclick="a.Approve"&gt;Approve&lt;/button&gt;</a:t>
            </a:r>
            <a:br/>
            <a:r>
              <a:t>            &lt;button @onclick="() =&gt; a.Reject()"&gt;Reject&lt;/button&gt;</a:t>
            </a:r>
            <a:br/>
            <a:r>
              <a:t>        &lt;/BlockRenderer&gt;</a:t>
            </a:r>
            <a:br/>
            <a:r>
              <a:t>    &lt;/MessageListContent&gt;</a:t>
            </a:r>
            <a:br/>
            <a:r>
              <a:t>&lt;/ChatPage&gt;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28. EF Core 11: Complex Types Everywhere - TPT/TPC, Cosmos DB, Keys and JSON Indexes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Complex types (column or JSON mapped) now work with TPT and TPC inheritance, not only TPH.</a:t>
            </a:r>
          </a:p>
          <a:p>
            <a:pPr>
              <a:spcAft>
                <a:spcPts val="1000"/>
              </a:spcAft>
              <a:defRPr sz="1100">
                <a:solidFill>
                  <a:srgbClr val="0F172A"/>
                </a:solidFill>
                <a:latin typeface="Segoe UI"/>
              </a:defRPr>
            </a:pPr>
            <a:r>
              <a:t>•  Azure Cosmos DB: complex types and complex collections stored as nested JSON objects and arrays.</a:t>
            </a:r>
          </a:p>
          <a:p>
            <a:pPr>
              <a:spcAft>
                <a:spcPts val="1000"/>
              </a:spcAft>
              <a:defRPr sz="1100">
                <a:solidFill>
                  <a:srgbClr val="0F172A"/>
                </a:solidFill>
                <a:latin typeface="Segoe UI"/>
              </a:defRPr>
            </a:pPr>
            <a:r>
              <a:t>•  Keys and indexes on nested members: HasKey(c =&gt; c.CustomerId.Value), HasIndex(c =&gt; c.Address.PostalCode).</a:t>
            </a:r>
          </a:p>
          <a:p>
            <a:pPr>
              <a:spcAft>
                <a:spcPts val="1000"/>
              </a:spcAft>
              <a:defRPr sz="1100">
                <a:solidFill>
                  <a:srgbClr val="0F172A"/>
                </a:solidFill>
                <a:latin typeface="Segoe UI"/>
              </a:defRPr>
            </a:pPr>
            <a:r>
              <a:t>•  JSON path indexes such as HasIndex("Items[].Sku"); SQL Server migrations emit CREATE JSON INDEX.</a:t>
            </a:r>
          </a:p>
          <a:p>
            <a:pPr>
              <a:spcAft>
                <a:spcPts val="1000"/>
              </a:spcAft>
              <a:defRPr sz="1100">
                <a:solidFill>
                  <a:srgbClr val="0F172A"/>
                </a:solidFill>
                <a:latin typeface="Segoe UI"/>
              </a:defRPr>
            </a:pPr>
            <a:r>
              <a:t>•  Fluent API lambda chains, plus fixes for ExecuteUpdate and ReloadAsync - value objects no longer need owned entities.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Complex type mapped to JSON in a TPT hierarchy</a:t>
            </a:r>
            <a:br/>
            <a:r>
              <a:t>modelBuilder.Entity&lt;Animal&gt;()</a:t>
            </a:r>
            <a:br/>
            <a:r>
              <a:t>    .UseTptMappingStrategy()</a:t>
            </a:r>
            <a:br/>
            <a:r>
              <a:t>    .ComplexProperty(a =&gt; a.Details, b =&gt; b.ToJson());</a:t>
            </a:r>
            <a:br/>
            <a:br/>
            <a:r>
              <a:t>// Configure a nested member directly</a:t>
            </a:r>
            <a:br/>
            <a:r>
              <a:t>modelBuilder.Entity&lt;Animal&gt;()</a:t>
            </a:r>
            <a:br/>
            <a:r>
              <a:t>    .Property(a =&gt; a.Details.Vet)</a:t>
            </a:r>
            <a:br/>
            <a:r>
              <a:t>    .HasMaxLength(200);</a:t>
            </a:r>
            <a:br/>
            <a:br/>
            <a:r>
              <a:t>// Keys and indexes over complex type members</a:t>
            </a:r>
            <a:br/>
            <a:r>
              <a:t>modelBuilder.Entity&lt;Customer&gt;()</a:t>
            </a:r>
            <a:br/>
            <a:r>
              <a:t>    .HasKey(c =&gt; c.CustomerId.Value);</a:t>
            </a:r>
            <a:br/>
            <a:r>
              <a:t>modelBuilder.Entity&lt;Customer&gt;()</a:t>
            </a:r>
            <a:br/>
            <a:r>
              <a:t>    .HasIndex(c =&gt; c.Address.PostalCode);</a:t>
            </a:r>
            <a:br/>
            <a:br/>
            <a:r>
              <a:t>// Index inside a JSON complex collection</a:t>
            </a:r>
            <a:br/>
            <a:r>
              <a:t>modelBuilder.Entity&lt;Order&gt;()</a:t>
            </a:r>
            <a:br/>
            <a:r>
              <a:t>    .ComplexCollection(o =&gt; o.Items, b =&gt; b.ToJson());</a:t>
            </a:r>
            <a:br/>
            <a:r>
              <a:t>modelBuilder.Entity&lt;Order&gt;().HasIndex("Items[].Sku");</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29. EF Core 11: Leaner SQL - Fewer JOINs (+29%) and No-Op CAST Removal</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Split queries: redundant INNER JOINs to to-one navigations are dropped when loading collections (up to +29%).</a:t>
            </a:r>
          </a:p>
          <a:p>
            <a:pPr>
              <a:spcAft>
                <a:spcPts val="1000"/>
              </a:spcAft>
              <a:defRPr sz="1100">
                <a:solidFill>
                  <a:srgbClr val="0F172A"/>
                </a:solidFill>
                <a:latin typeface="Segoe UI"/>
              </a:defRPr>
            </a:pPr>
            <a:r>
              <a:t>•  Shorter ORDER BY: keys of to-one navigations are no longer added when the parent PK is already unique (+22%).</a:t>
            </a:r>
          </a:p>
          <a:p>
            <a:pPr>
              <a:spcAft>
                <a:spcPts val="1000"/>
              </a:spcAft>
              <a:defRPr sz="1100">
                <a:solidFill>
                  <a:srgbClr val="0F172A"/>
                </a:solidFill>
                <a:latin typeface="Segoe UI"/>
              </a:defRPr>
            </a:pPr>
            <a:r>
              <a:t>•  No-op CAST stripping: CAST(Name AS nvarchar(max)) on a column of the same type is removed from the SQL.</a:t>
            </a:r>
          </a:p>
          <a:p>
            <a:pPr>
              <a:spcAft>
                <a:spcPts val="1000"/>
              </a:spcAft>
              <a:defRPr sz="1100">
                <a:solidFill>
                  <a:srgbClr val="0F172A"/>
                </a:solidFill>
                <a:latin typeface="Segoe UI"/>
              </a:defRPr>
            </a:pPr>
            <a:r>
              <a:t>•  Without wrapping CASTs in WHERE, the database optimizer can use index seeks again.</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Split query with a to-one and a to-many Include</a:t>
            </a:r>
            <a:br/>
            <a:r>
              <a:t>var blogs = await context.Blogs</a:t>
            </a:r>
            <a:br/>
            <a:r>
              <a:t>    .Include(b =&gt; b.BlogType)   // to-one navigation</a:t>
            </a:r>
            <a:br/>
            <a:r>
              <a:t>    .Include(b =&gt; b.Posts)      // to-many collection</a:t>
            </a:r>
            <a:br/>
            <a:r>
              <a:t>    .AsSplitQuery()</a:t>
            </a:r>
            <a:br/>
            <a:r>
              <a:t>    .ToListAsync();</a:t>
            </a:r>
            <a:br/>
            <a:r>
              <a:t>// Before: the Posts query also joined BlogType and sorted by it.</a:t>
            </a:r>
            <a:br/>
            <a:r>
              <a:t>// EF Core 11: a clean query (up to +29% throughput).</a:t>
            </a:r>
            <a:br/>
            <a:br/>
            <a:r>
              <a:t>// 2. No-op CAST removed for value converters</a:t>
            </a:r>
            <a:br/>
            <a:r>
              <a:t>// Before: WHERE CAST([u].[Name] AS nvarchar(max)) LIKE N'Alex%'</a:t>
            </a:r>
            <a:br/>
            <a:r>
              <a:t>//         -&gt; index cannot be used</a:t>
            </a:r>
            <a:br/>
            <a:r>
              <a:t>// EF 11:  WHERE [u].[Name] LIKE N'Alex%'</a:t>
            </a:r>
            <a:br/>
            <a:r>
              <a:t>//         -&gt; index seek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31. .NET MAUI 11: CoreCLR Replaces Mono as the Default Runtime, plus dotnet test on Devices</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CoreCLR is now the default runtime for every .NET MAUI platform, including Android and iOS.</a:t>
            </a:r>
          </a:p>
          <a:p>
            <a:pPr>
              <a:spcAft>
                <a:spcPts val="1000"/>
              </a:spcAft>
              <a:defRPr sz="1100">
                <a:solidFill>
                  <a:srgbClr val="0F172A"/>
                </a:solidFill>
                <a:latin typeface="Segoe UI"/>
              </a:defRPr>
            </a:pPr>
            <a:r>
              <a:t>•  One runtime everywhere: the same JIT, GC and diagnostics as your backend, faster Hot Reload, optional Native AOT.</a:t>
            </a:r>
          </a:p>
          <a:p>
            <a:pPr>
              <a:spcAft>
                <a:spcPts val="1000"/>
              </a:spcAft>
              <a:defRPr sz="1100">
                <a:solidFill>
                  <a:srgbClr val="0F172A"/>
                </a:solidFill>
                <a:latin typeface="Segoe UI"/>
              </a:defRPr>
            </a:pPr>
            <a:r>
              <a:t>•  Plan a regression pass: reflection, dynamic loading and native interop may behave differently than on Mono.</a:t>
            </a:r>
          </a:p>
          <a:p>
            <a:pPr>
              <a:spcAft>
                <a:spcPts val="1000"/>
              </a:spcAft>
              <a:defRPr sz="1100">
                <a:solidFill>
                  <a:srgbClr val="0F172A"/>
                </a:solidFill>
                <a:latin typeface="Segoe UI"/>
              </a:defRPr>
            </a:pPr>
            <a:r>
              <a:t>•  New test templates: androidtest, iostest, tvostest, macostest and maccatalysttest on Microsoft.Testing.Platform.</a:t>
            </a:r>
          </a:p>
          <a:p>
            <a:pPr>
              <a:spcAft>
                <a:spcPts val="1000"/>
              </a:spcAft>
              <a:defRPr sz="1100">
                <a:solidFill>
                  <a:srgbClr val="0F172A"/>
                </a:solidFill>
                <a:latin typeface="Segoe UI"/>
              </a:defRPr>
            </a:pPr>
            <a:r>
              <a:t>•  dotnet test runs unit and integration tests inside the app process on a real device or emulator.</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1. Create and run a device test project (.NET 11 CLI)</a:t>
            </a:r>
            <a:br/>
            <a:r>
              <a:t>dotnet new androidtest -n MyMauiApp.AndroidTests</a:t>
            </a:r>
            <a:br/>
            <a:r>
              <a:t>cd MyMauiApp.AndroidTests</a:t>
            </a:r>
            <a:br/>
            <a:r>
              <a:t>dotnet test   # runs on the connected device or emulator</a:t>
            </a:r>
            <a:br/>
            <a:br/>
            <a:r>
              <a:t>&lt;!-- 2. CoreCLR is the default; Native AOT is optional --&gt;</a:t>
            </a:r>
            <a:br/>
            <a:r>
              <a:t>&lt;PropertyGroup&gt;</a:t>
            </a:r>
            <a:br/>
            <a:r>
              <a:t>  &lt;TargetFrameworks&gt;</a:t>
            </a:r>
            <a:br/>
            <a:r>
              <a:t>    net11.0-android;net11.0-ios;net11.0-maccatalyst</a:t>
            </a:r>
            <a:br/>
            <a:r>
              <a:t>  &lt;/TargetFrameworks&gt;</a:t>
            </a:r>
            <a:br/>
            <a:r>
              <a:t>  &lt;PublishAot Condition="'$(Configuration)' == 'Release'"&gt;</a:t>
            </a:r>
            <a:br/>
            <a:r>
              <a:t>    true</a:t>
            </a:r>
            <a:br/>
            <a:r>
              <a:t>  &lt;/PublishAot&gt;</a:t>
            </a:r>
            <a:br/>
            <a:r>
              <a:t>&lt;/PropertyGroup&gt;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32. .NET MAUI 11: XAML Incremental Hot Reload, Implicit Namespaces, x:Code, Lazy ResourceDictionary</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XAML Incremental Hot Reload: a source-generator engine patches live pages via MetadataUpdateHandler without recreating them.</a:t>
            </a:r>
          </a:p>
          <a:p>
            <a:pPr>
              <a:spcAft>
                <a:spcPts val="1000"/>
              </a:spcAft>
              <a:defRPr sz="1100">
                <a:solidFill>
                  <a:srgbClr val="0F172A"/>
                </a:solidFill>
                <a:latin typeface="Segoe UI"/>
              </a:defRPr>
            </a:pPr>
            <a:r>
              <a:t>•  Implicit XAML namespaces are on by default - no more boilerplate xmlns and xmlns:x on the root element.</a:t>
            </a:r>
          </a:p>
          <a:p>
            <a:pPr>
              <a:spcAft>
                <a:spcPts val="1000"/>
              </a:spcAft>
              <a:defRPr sz="1100">
                <a:solidFill>
                  <a:srgbClr val="0F172A"/>
                </a:solidFill>
                <a:latin typeface="Segoe UI"/>
              </a:defRPr>
            </a:pPr>
            <a:r>
              <a:t>•  x:Code directive: small C# handlers can live inside the XAML file, no separate code-behind needed.</a:t>
            </a:r>
          </a:p>
          <a:p>
            <a:pPr>
              <a:spcAft>
                <a:spcPts val="1000"/>
              </a:spcAft>
              <a:defRPr sz="1100">
                <a:solidFill>
                  <a:srgbClr val="0F172A"/>
                </a:solidFill>
                <a:latin typeface="Segoe UI"/>
              </a:defRPr>
            </a:pPr>
            <a:r>
              <a:t>•  Lazy ResourceDictionary: resources become factories created on first use - up to ~8x faster startup with large styles.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&lt;!-- .NET MAUI 11: no xmlns declarations, inline x:Code --&gt;</a:t>
            </a:r>
            <a:br/>
            <a:r>
              <a:t>&lt;ContentPage x:Class="MyApp.MainPage" Title="Shop"&gt;</a:t>
            </a:r>
            <a:br/>
            <a:r>
              <a:t>    &lt;x:Code&gt;&lt;![CDATA[</a:t>
            </a:r>
            <a:br/>
            <a:r>
              <a:t>        int _clicks = 0;</a:t>
            </a:r>
            <a:br/>
            <a:r>
              <a:t>        void OnOrderClicked(object sender, EventArgs e)</a:t>
            </a:r>
            <a:br/>
            <a:r>
              <a:t>        {</a:t>
            </a:r>
            <a:br/>
            <a:r>
              <a:t>            _clicks++;</a:t>
            </a:r>
            <a:br/>
            <a:r>
              <a:t>            CounterLabel.Text = $"Orders placed: {_clicks}";</a:t>
            </a:r>
            <a:br/>
            <a:r>
              <a:t>        }</a:t>
            </a:r>
            <a:br/>
            <a:r>
              <a:t>    ]]&gt;&lt;/x:Code&gt;</a:t>
            </a:r>
            <a:br/>
            <a:br/>
            <a:r>
              <a:t>    &lt;VerticalStackLayout Padding="24" Spacing="16"&gt;</a:t>
            </a:r>
            <a:br/>
            <a:r>
              <a:t>        &lt;Label x:Name="CounterLabel" Text="Ready to order" /&gt;</a:t>
            </a:r>
            <a:br/>
            <a:r>
              <a:t>        &lt;Button Text="One-click order" Clicked="OnOrderClicked" /&gt;</a:t>
            </a:r>
            <a:br/>
            <a:r>
              <a:t>    &lt;/VerticalStackLayout&gt;</a:t>
            </a:r>
            <a:br/>
            <a:r>
              <a:t>&lt;/ContentPage&gt;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34. Upgrading to .NET 11: What You Get, What to Adopt, What to Verify</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Upgrade checklist:</a:t>
            </a:r>
          </a:p>
          <a:p>
            <a:pPr>
              <a:spcAft>
                <a:spcPts val="1000"/>
              </a:spcAft>
              <a:defRPr sz="1100">
                <a:solidFill>
                  <a:srgbClr val="0F172A"/>
                </a:solidFill>
                <a:latin typeface="Segoe UI"/>
              </a:defRPr>
            </a:pPr>
            <a:r>
              <a:t>•  Free after retargeting: Runtime Async in the BCL, cleaner stack traces, leaner EF Core SQL, native OpenTelemetry, CoreCLR in MAUI.</a:t>
            </a:r>
          </a:p>
          <a:p>
            <a:pPr>
              <a:spcAft>
                <a:spcPts val="1000"/>
              </a:spcAft>
              <a:defRPr sz="1100">
                <a:solidFill>
                  <a:srgbClr val="0F172A"/>
                </a:solidFill>
                <a:latin typeface="Segoe UI"/>
              </a:defRPr>
            </a:pPr>
            <a:r>
              <a:t>•  Adopt in code: unions and closed hierarchies, with(...), LINQ LeftJoin/FullJoin, async validation rules, new Process methods.</a:t>
            </a:r>
          </a:p>
          <a:p>
            <a:pPr>
              <a:spcAft>
                <a:spcPts val="1000"/>
              </a:spcAft>
              <a:defRPr sz="1100">
                <a:solidFill>
                  <a:srgbClr val="0F172A"/>
                </a:solidFill>
                <a:latin typeface="Segoe UI"/>
              </a:defRPr>
            </a:pPr>
            <a:r>
              <a:t>•  Try in pilots: the MCP server template, Blazor AI components, circuit pause, MAUI macOS/Linux backends.</a:t>
            </a:r>
          </a:p>
          <a:p>
            <a:pPr>
              <a:spcAft>
                <a:spcPts val="1000"/>
              </a:spcAft>
              <a:defRPr sz="1100">
                <a:solidFill>
                  <a:srgbClr val="0F172A"/>
                </a:solidFill>
                <a:latin typeface="Segoe UI"/>
              </a:defRPr>
            </a:pPr>
            <a:r>
              <a:t>•  Verify before rollout: stack-trace-based alerting, clients generated from OpenAPI 3.2, EF code that expects vector columns, mobile regression tests.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Upgrade path for a typical solution</a:t>
            </a:r>
            <a:br/>
            <a:r>
              <a:t>//</a:t>
            </a:r>
            <a:br/>
            <a:r>
              <a:t>// 1. Retarget:      &lt;TargetFramework&gt;net11.0&lt;/TargetFramework&gt;</a:t>
            </a:r>
            <a:br/>
            <a:r>
              <a:t>// 2. Build + test:  fix new analyzer warnings (C# 15)</a:t>
            </a:r>
            <a:br/>
            <a:r>
              <a:t>// 3. Regenerate:    OpenAPI clients, EF migrations snapshot</a:t>
            </a:r>
            <a:br/>
            <a:r>
              <a:t>// 4. Opt in:        &lt;Features&gt;runtime-async=on&lt;/Features&gt;</a:t>
            </a:r>
            <a:br/>
            <a:r>
              <a:t>// 5. Measure:       latency, allocations, memory, startup</a:t>
            </a:r>
            <a:br/>
            <a:r>
              <a:t>// 6. Adopt:         unions, LeftJoin, async validation</a:t>
            </a:r>
            <a:br/>
            <a:r>
              <a:t>// 7. Pilot:         MCP server, Blazor AI, MAUI backends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 Runtime: .NET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Runtime Async: async/await handled by CoreCLR, already enabled across the BCL and ASP.NET Core (detailed next).</a:t>
            </a:r>
          </a:p>
          <a:p>
            <a:pPr>
              <a:spcAft>
                <a:spcPts val="1000"/>
              </a:spcAft>
              <a:defRPr sz="1100">
                <a:solidFill>
                  <a:srgbClr val="0F172A"/>
                </a:solidFill>
                <a:latin typeface="Segoe UI"/>
              </a:defRPr>
            </a:pPr>
            <a:r>
              <a:t>•  Clean async stack traces and cheaper await paths (detailed next).</a:t>
            </a:r>
          </a:p>
          <a:p>
            <a:pPr>
              <a:spcAft>
                <a:spcPts val="1000"/>
              </a:spcAft>
              <a:defRPr sz="1100">
                <a:solidFill>
                  <a:srgbClr val="0F172A"/>
                </a:solidFill>
                <a:latin typeface="Segoe UI"/>
              </a:defRPr>
            </a:pPr>
            <a:r>
              <a:t>•  Higher hardware baseline for x86/x64 and Arm64: legacy CPU fallbacks removed, faster Native AOT code.</a:t>
            </a:r>
          </a:p>
          <a:p>
            <a:pPr>
              <a:spcAft>
                <a:spcPts val="1000"/>
              </a:spcAft>
              <a:defRPr sz="1100">
                <a:solidFill>
                  <a:srgbClr val="0F172A"/>
                </a:solidFill>
                <a:latin typeface="Segoe UI"/>
              </a:defRPr>
            </a:pPr>
            <a:r>
              <a:t>•  JIT: redundant branch and overflow-check elimination, better bounds-check removal.</a:t>
            </a:r>
          </a:p>
          <a:p>
            <a:pPr>
              <a:spcAft>
                <a:spcPts val="1000"/>
              </a:spcAft>
              <a:defRPr sz="1100">
                <a:solidFill>
                  <a:srgbClr val="0F172A"/>
                </a:solidFill>
                <a:latin typeface="Segoe UI"/>
              </a:defRPr>
            </a:pPr>
            <a:r>
              <a:t>•  Hardware acceleration: AVX-VNNI-512, Arm SVE2, FP16 (Half) arithmetic and new Vector128/256/512 APIs.</a:t>
            </a:r>
          </a:p>
          <a:p>
            <a:pPr>
              <a:spcAft>
                <a:spcPts val="1000"/>
              </a:spcAft>
              <a:defRPr sz="1100">
                <a:solidFill>
                  <a:srgbClr val="0F172A"/>
                </a:solidFill>
                <a:latin typeface="Segoe UI"/>
              </a:defRPr>
            </a:pPr>
            <a:r>
              <a:t>•  In-process crash report logging for iOS, Android, Linux containers and macOS.</a:t>
            </a:r>
          </a:p>
          <a:p>
            <a:pPr>
              <a:spcAft>
                <a:spcPts val="1000"/>
              </a:spcAft>
              <a:defRPr sz="1100">
                <a:solidFill>
                  <a:srgbClr val="0F172A"/>
                </a:solidFill>
                <a:latin typeface="Segoe UI"/>
              </a:defRPr>
            </a:pPr>
            <a:r>
              <a:t>•  Native AOT: shared interface dispatch helper; CoreCLR passes the full library test suite on WebAssembly.</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.NET 11 runtime changes by impact on your code</a:t>
            </a:r>
            <a:br/>
            <a:r>
              <a:t>//</a:t>
            </a:r>
            <a:br/>
            <a:r>
              <a:t>// Free after retargeting to net11.0</a:t>
            </a:r>
            <a:br/>
            <a:r>
              <a:t>//   - BCL and ASP.NET Core built with Runtime Async</a:t>
            </a:r>
            <a:br/>
            <a:r>
              <a:t>//   - JIT branch / bounds-check elimination</a:t>
            </a:r>
            <a:br/>
            <a:r>
              <a:t>//   - Faster code from the higher CPU baseline</a:t>
            </a:r>
            <a:br/>
            <a:r>
              <a:t>//</a:t>
            </a:r>
            <a:br/>
            <a:r>
              <a:t>// Opt-in for your own assemblies</a:t>
            </a:r>
            <a:br/>
            <a:r>
              <a:t>//   &lt;Features&gt;runtime-async=on&lt;/Features&gt;</a:t>
            </a:r>
            <a:br/>
            <a:r>
              <a:t>//</a:t>
            </a:r>
            <a:br/>
            <a:r>
              <a:t>// Specialized scenarios</a:t>
            </a:r>
            <a:br/>
            <a:r>
              <a:t>//   - SIMD and FP16 APIs for ML and signal processing</a:t>
            </a:r>
            <a:br/>
            <a:r>
              <a:t>//   - In-process crash reports on mobile devices</a:t>
            </a:r>
            <a:br/>
            <a:r>
              <a:t>//   - Native AOT and WebAssembly improvements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5. Libraries and SDK: .NET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Process API: one-line run with captured output, lifecycle control, safe lookup (detailed next).</a:t>
            </a:r>
          </a:p>
          <a:p>
            <a:pPr>
              <a:spcAft>
                <a:spcPts val="1000"/>
              </a:spcAft>
              <a:defRPr sz="1100">
                <a:solidFill>
                  <a:srgbClr val="0F172A"/>
                </a:solidFill>
                <a:latin typeface="Segoe UI"/>
              </a:defRPr>
            </a:pPr>
            <a:r>
              <a:t>•  LINQ: LeftJoin, RightJoin and FullJoin (detailed).</a:t>
            </a:r>
          </a:p>
          <a:p>
            <a:pPr>
              <a:spcAft>
                <a:spcPts val="1000"/>
              </a:spcAft>
              <a:defRPr sz="1100">
                <a:solidFill>
                  <a:srgbClr val="0F172A"/>
                </a:solidFill>
                <a:latin typeface="Segoe UI"/>
              </a:defRPr>
            </a:pPr>
            <a:r>
              <a:t>•  Async validation in DataAnnotations (detailed).</a:t>
            </a:r>
          </a:p>
          <a:p>
            <a:pPr>
              <a:spcAft>
                <a:spcPts val="1000"/>
              </a:spcAft>
              <a:defRPr sz="1100">
                <a:solidFill>
                  <a:srgbClr val="0F172A"/>
                </a:solidFill>
                <a:latin typeface="Segoe UI"/>
              </a:defRPr>
            </a:pPr>
            <a:r>
              <a:t>•  SDK: #:include scripts, Native AOT CLI, dotnet run -e, richer dotnet test (detailed).</a:t>
            </a:r>
          </a:p>
          <a:p>
            <a:pPr>
              <a:spcAft>
                <a:spcPts val="1000"/>
              </a:spcAft>
              <a:defRPr sz="1100">
                <a:solidFill>
                  <a:srgbClr val="0F172A"/>
                </a:solidFill>
                <a:latin typeface="Segoe UI"/>
              </a:defRPr>
            </a:pPr>
            <a:r>
              <a:t>•  Zero-copy streams: ReadOnlyMemoryStream, WritableMemoryStream, ReadOnlySequenceStream, StringStream.</a:t>
            </a:r>
          </a:p>
          <a:p>
            <a:pPr>
              <a:spcAft>
                <a:spcPts val="1000"/>
              </a:spcAft>
              <a:defRPr sz="1100">
                <a:solidFill>
                  <a:srgbClr val="0F172A"/>
                </a:solidFill>
                <a:latin typeface="Segoe UI"/>
              </a:defRPr>
            </a:pPr>
            <a:r>
              <a:t>•  StringBuilder.MoveChunks, password-protected ZIP (AES), ZstandardStream, Decimal32/64/128, Complex&lt;T&gt;.</a:t>
            </a:r>
          </a:p>
          <a:p>
            <a:pPr>
              <a:spcAft>
                <a:spcPts val="1000"/>
              </a:spcAft>
              <a:defRPr sz="1100">
                <a:solidFill>
                  <a:srgbClr val="0F172A"/>
                </a:solidFill>
                <a:latin typeface="Segoe UI"/>
              </a:defRPr>
            </a:pPr>
            <a:r>
              <a:t>•  System.Text.Json: PascalCase policy, per-member [JsonNamingPolicy], class-level [JsonIgnore], unions, JSON Lines.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Zero-copy: a string as a Stream, no byte[] allocation</a:t>
            </a:r>
            <a:br/>
            <a:r>
              <a:t>using Stream s = new StringStream(yamlText, Encoding.UTF8);</a:t>
            </a:r>
            <a:br/>
            <a:br/>
            <a:r>
              <a:t>// Password-protected ZIP entries</a:t>
            </a:r>
            <a:br/>
            <a:r>
              <a:t>await using Stream entry = await zip.CreateEntry("data.txt")</a:t>
            </a:r>
            <a:br/>
            <a:r>
              <a:t>    .OpenAsync(password, ZipEncryptionMethod.Aes256, ct);</a:t>
            </a:r>
            <a:br/>
            <a:br/>
            <a:r>
              <a:t>// System.Text.Json: class-level ignore + per-member naming</a:t>
            </a:r>
            <a:br/>
            <a:r>
              <a:t>[JsonIgnore(Condition = JsonIgnoreCondition.WhenWritingNull)]</a:t>
            </a:r>
            <a:br/>
            <a:r>
              <a:t>public class EventData</a:t>
            </a:r>
            <a:br/>
            <a:r>
              <a:t>{</a:t>
            </a:r>
            <a:br/>
            <a:r>
              <a:t>    [JsonNamingPolicy(typeof(JsonCamelCaseNamingPolicy))]</a:t>
            </a:r>
            <a:br/>
            <a:r>
              <a:t>    public string EventName { get; set; } = "";</a:t>
            </a:r>
            <a:br/>
            <a:r>
              <a:t>    public string? Notes { get; set; }</a:t>
            </a:r>
            <a:br/>
            <a: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11. C# 15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Collection expression arguments: with(...) passes capacity or a comparer (detailed next).</a:t>
            </a:r>
          </a:p>
          <a:p>
            <a:pPr>
              <a:spcAft>
                <a:spcPts val="1000"/>
              </a:spcAft>
              <a:defRPr sz="1100">
                <a:solidFill>
                  <a:srgbClr val="0F172A"/>
                </a:solidFill>
                <a:latin typeface="Segoe UI"/>
              </a:defRPr>
            </a:pPr>
            <a:r>
              <a:t>•  Union types: the union keyword with exhaustive pattern matching (detailed).</a:t>
            </a:r>
          </a:p>
          <a:p>
            <a:pPr>
              <a:spcAft>
                <a:spcPts val="1000"/>
              </a:spcAft>
              <a:defRPr sz="1100">
                <a:solidFill>
                  <a:srgbClr val="0F172A"/>
                </a:solidFill>
                <a:latin typeface="Segoe UI"/>
              </a:defRPr>
            </a:pPr>
            <a:r>
              <a:t>•  Closed hierarchies: the closed modifier for exhaustive switches over class families (detailed).</a:t>
            </a:r>
          </a:p>
          <a:p>
            <a:pPr>
              <a:spcAft>
                <a:spcPts val="1000"/>
              </a:spcAft>
              <a:defRPr sz="1100">
                <a:solidFill>
                  <a:srgbClr val="0F172A"/>
                </a:solidFill>
                <a:latin typeface="Segoe UI"/>
              </a:defRPr>
            </a:pPr>
            <a:r>
              <a:t>•  Extension indexers inside extension blocks (detailed).</a:t>
            </a:r>
          </a:p>
          <a:p>
            <a:pPr>
              <a:spcAft>
                <a:spcPts val="1000"/>
              </a:spcAft>
              <a:defRPr sz="1100">
                <a:solidFill>
                  <a:srgbClr val="0F172A"/>
                </a:solidFill>
                <a:latin typeface="Segoe UI"/>
              </a:defRPr>
            </a:pPr>
            <a:r>
              <a:t>•  Labeled break and continue for nested loops (detailed).</a:t>
            </a:r>
          </a:p>
          <a:p>
            <a:pPr>
              <a:spcAft>
                <a:spcPts val="1000"/>
              </a:spcAft>
              <a:defRPr sz="1100">
                <a:solidFill>
                  <a:srgbClr val="0F172A"/>
                </a:solidFill>
                <a:latin typeface="Segoe UI"/>
              </a:defRPr>
            </a:pPr>
            <a:r>
              <a:t>•  Memory safety model (opt-in, for libraries and interop): pointer relaxations, unsafe(expression), the safe keyword.</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 15 in six lines</a:t>
            </a:r>
            <a:br/>
            <a:r>
              <a:t>List&lt;int&gt; ids = [with(capacity: 100), .. source];</a:t>
            </a:r>
            <a:br/>
            <a:br/>
            <a:r>
              <a:t>public union Result(Success, Failure);</a:t>
            </a:r>
            <a:br/>
            <a:br/>
            <a:r>
              <a:t>public closed record class OrderState;</a:t>
            </a:r>
            <a:br/>
            <a:br/>
            <a:r>
              <a:t>extension(ulong mask) { public bool this[int bit] =&gt; ... }</a:t>
            </a:r>
            <a:br/>
            <a:br/>
            <a:r>
              <a:t>outer: foreach (var row in rows) { ... continue outer; }</a:t>
            </a:r>
            <a:br/>
            <a:br/>
            <a:r>
              <a:t>int* p = &amp;value; // pointer declarations no longer need unsafe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17. ASP.NET Core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Async validation, localized messages and [ShortCircuit] for Minimal APIs (detailed next).</a:t>
            </a:r>
          </a:p>
          <a:p>
            <a:pPr>
              <a:spcAft>
                <a:spcPts val="1000"/>
              </a:spcAft>
              <a:defRPr sz="1100">
                <a:solidFill>
                  <a:srgbClr val="0F172A"/>
                </a:solidFill>
                <a:latin typeface="Segoe UI"/>
              </a:defRPr>
            </a:pPr>
            <a:r>
              <a:t>•  OpenAPI 3.2 by default, HTTP QUERY, binary file schemas (detailed).</a:t>
            </a:r>
          </a:p>
          <a:p>
            <a:pPr>
              <a:spcAft>
                <a:spcPts val="1000"/>
              </a:spcAft>
              <a:defRPr sz="1100">
                <a:solidFill>
                  <a:srgbClr val="0F172A"/>
                </a:solidFill>
                <a:latin typeface="Segoe UI"/>
              </a:defRPr>
            </a:pPr>
            <a:r>
              <a:t>•  SignalR authentication refresh and client-side cancellation (detailed).</a:t>
            </a:r>
          </a:p>
          <a:p>
            <a:pPr>
              <a:spcAft>
                <a:spcPts val="1000"/>
              </a:spcAft>
              <a:defRPr sz="1100">
                <a:solidFill>
                  <a:srgbClr val="0F172A"/>
                </a:solidFill>
                <a:latin typeface="Segoe UI"/>
              </a:defRPr>
            </a:pPr>
            <a:r>
              <a:t>•  dotnet new mcpserver and IOutputCachePolicyProvider (detailed).</a:t>
            </a:r>
          </a:p>
          <a:p>
            <a:pPr>
              <a:spcAft>
                <a:spcPts val="1000"/>
              </a:spcAft>
              <a:defRPr sz="1100">
                <a:solidFill>
                  <a:srgbClr val="0F172A"/>
                </a:solidFill>
                <a:latin typeface="Segoe UI"/>
              </a:defRPr>
            </a:pPr>
            <a:r>
              <a:t>•  C# 15 unions in Minimal APIs and MVC (anyOf in OpenAPI); endpoint filters run on binding failures.</a:t>
            </a:r>
          </a:p>
          <a:p>
            <a:pPr>
              <a:spcAft>
                <a:spcPts val="1000"/>
              </a:spcAft>
              <a:defRPr sz="1100">
                <a:solidFill>
                  <a:srgbClr val="0F172A"/>
                </a:solidFill>
                <a:latin typeface="Segoe UI"/>
              </a:defRPr>
            </a:pPr>
            <a:r>
              <a:t>•  Typed Server-Sent Events with OpenAPI itemSchema; build-time OpenAPI per environment.</a:t>
            </a:r>
          </a:p>
          <a:p>
            <a:pPr>
              <a:spcAft>
                <a:spcPts val="1000"/>
              </a:spcAft>
              <a:defRPr sz="1100">
                <a:solidFill>
                  <a:srgbClr val="0F172A"/>
                </a:solidFill>
                <a:latin typeface="Segoe UI"/>
              </a:defRPr>
            </a:pPr>
            <a:r>
              <a:t>•  Kestrel: non-throwing HTTP/1.1 parser, early HTTP/3; native OpenTelemetry tracing; zstd compression.</a:t>
            </a:r>
          </a:p>
          <a:p>
            <a:pPr>
              <a:spcAft>
                <a:spcPts val="1000"/>
              </a:spcAft>
              <a:defRPr sz="1100">
                <a:solidFill>
                  <a:srgbClr val="0F172A"/>
                </a:solidFill>
                <a:latin typeface="Segoe UI"/>
              </a:defRPr>
            </a:pPr>
            <a:r>
              <a:t>•  Identity on TimeProvider, passkey naming by AAGUID, Device Bound Session Credentials.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Native OpenTelemetry - no instrumentation package needed</a:t>
            </a:r>
            <a:br/>
            <a:r>
              <a:t>builder.Services.AddOpenTelemetry()</a:t>
            </a:r>
            <a:br/>
            <a:r>
              <a:t>    .WithTracing(t =&gt; t</a:t>
            </a:r>
            <a:br/>
            <a:r>
              <a:t>        .AddSource("Microsoft.AspNetCore")</a:t>
            </a:r>
            <a:br/>
            <a:r>
              <a:t>        .AddOtlpExporter());</a:t>
            </a:r>
            <a:br/>
            <a:br/>
            <a:r>
              <a:t>// Zstandard response compression out of the box</a:t>
            </a:r>
            <a:br/>
            <a:r>
              <a:t>builder.Services.AddResponseCompression();</a:t>
            </a:r>
            <a:br/>
            <a:br/>
            <a:r>
              <a:t>// C# 15 union as an endpoint result -&gt; anyOf in OpenAPI</a:t>
            </a:r>
            <a:br/>
            <a:r>
              <a:t>public union CheckoutResponse(OrderReceipt, PaymentDeclined);</a:t>
            </a:r>
            <a:br/>
            <a:r>
              <a:t>app.MapPost("/checkout", (CheckoutRequest r) =&gt; Checkout(r));</a:t>
            </a:r>
            <a:br/>
            <a:br/>
            <a:r>
              <a:t>// Typed SSE stream with an itemSchema in OpenAPI 3.2</a:t>
            </a:r>
            <a:br/>
            <a:r>
              <a:t>app.MapGet("/orders/live", (CancellationToken ct) =&gt;</a:t>
            </a:r>
            <a:br/>
            <a:r>
              <a:t>    TypedResults.ServerSentEvents(StreamOrdersAsync(ct)));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22. Blazor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Client-side validation in Static SSR and async validation in EditForm (detailed next).</a:t>
            </a:r>
          </a:p>
          <a:p>
            <a:pPr>
              <a:spcAft>
                <a:spcPts val="1000"/>
              </a:spcAft>
              <a:defRPr sz="1100">
                <a:solidFill>
                  <a:srgbClr val="0F172A"/>
                </a:solidFill>
                <a:latin typeface="Segoe UI"/>
              </a:defRPr>
            </a:pPr>
            <a:r>
              <a:t>•  Virtualize: variable item height, ScrollToItemAsync, strict CSP (detailed).</a:t>
            </a:r>
          </a:p>
          <a:p>
            <a:pPr>
              <a:spcAft>
                <a:spcPts val="1000"/>
              </a:spcAft>
              <a:defRPr sz="1100">
                <a:solidFill>
                  <a:srgbClr val="0F172A"/>
                </a:solidFill>
                <a:latin typeface="Segoe UI"/>
              </a:defRPr>
            </a:pPr>
            <a:r>
              <a:t>•  Circuit pause and WithBrowserOptions for Interactive Server (detailed).</a:t>
            </a:r>
          </a:p>
          <a:p>
            <a:pPr>
              <a:spcAft>
                <a:spcPts val="1000"/>
              </a:spcAft>
              <a:defRPr sz="1100">
                <a:solidFill>
                  <a:srgbClr val="0F172A"/>
                </a:solidFill>
                <a:latin typeface="Segoe UI"/>
              </a:defRPr>
            </a:pPr>
            <a:r>
              <a:t>•  Experimental AI components: Components.AI and the AG-UI protocol (detailed).</a:t>
            </a:r>
          </a:p>
          <a:p>
            <a:pPr>
              <a:spcAft>
                <a:spcPts val="1000"/>
              </a:spcAft>
              <a:defRPr sz="1100">
                <a:solidFill>
                  <a:srgbClr val="0F172A"/>
                </a:solidFill>
                <a:latin typeface="Segoe UI"/>
              </a:defRPr>
            </a:pPr>
            <a:r>
              <a:t>•  New components: DisplayName, BasePath, EnvironmentView and CacheView for Static SSR.</a:t>
            </a:r>
          </a:p>
          <a:p>
            <a:pPr>
              <a:spcAft>
                <a:spcPts val="1000"/>
              </a:spcAft>
              <a:defRPr sz="1100">
                <a:solidFill>
                  <a:srgbClr val="0F172A"/>
                </a:solidFill>
                <a:latin typeface="Segoe UI"/>
              </a:defRPr>
            </a:pPr>
            <a:r>
              <a:t>•  Static SSR state: [SupplyParameterFromTempData], [SupplyParameterFromSession], relative navigation.</a:t>
            </a:r>
          </a:p>
          <a:p>
            <a:pPr>
              <a:spcAft>
                <a:spcPts val="1000"/>
              </a:spcAft>
              <a:defRPr sz="1100">
                <a:solidFill>
                  <a:srgbClr val="0F172A"/>
                </a:solidFill>
                <a:latin typeface="Segoe UI"/>
              </a:defRPr>
            </a:pPr>
            <a:r>
              <a:t>•  QuickGrid: paging and sorting in the URL, works without JavaScript, OnRowClick, per-grid prefixes.</a:t>
            </a:r>
          </a:p>
          <a:p>
            <a:pPr>
              <a:spcAft>
                <a:spcPts val="1000"/>
              </a:spcAft>
              <a:defRPr sz="1100">
                <a:solidFill>
                  <a:srgbClr val="0F172A"/>
                </a:solidFill>
                <a:latin typeface="Segoe UI"/>
              </a:defRPr>
            </a:pPr>
            <a:r>
              <a:t>•  WebAssembly: IHostedService support, the new Gateway dev host, smaller published bundles.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Cache an expensive fragment in Static SSR *@</a:t>
            </a:r>
            <a:br/>
            <a:r>
              <a:t>&lt;CacheView VaryByQuery="category"</a:t>
            </a:r>
            <a:br/>
            <a:r>
              <a:t>           ExpiresAfter="TimeSpan.FromMinutes(5)"&gt;</a:t>
            </a:r>
            <a:br/>
            <a:r>
              <a:t>    &lt;ProductCatalog Category="@Category" /&gt;</a:t>
            </a:r>
            <a:br/>
            <a:r>
              <a:t>&lt;/CacheView&gt;</a:t>
            </a:r>
            <a:br/>
            <a:br/>
            <a:r>
              <a:t>@* QuickGrid state lives in the URL: ?page=2&amp;sort=Name *@</a:t>
            </a:r>
            <a:br/>
            <a:r>
              <a:t>&lt;QuickGrid Items="@products" Pagination="@pagination"&gt;</a:t>
            </a:r>
            <a:br/>
            <a:r>
              <a:t>    &lt;PropertyColumn Property="@(p =&gt; p.Name)" Sortable="true" /&gt;</a:t>
            </a:r>
            <a:br/>
            <a:r>
              <a:t>&lt;/QuickGrid&gt;</a:t>
            </a:r>
            <a:br/>
            <a:br/>
            <a:r>
              <a:t>@code {</a:t>
            </a:r>
            <a:br/>
            <a:r>
              <a:t>    // Flash message after POST-Redirect-GET</a:t>
            </a:r>
            <a:br/>
            <a:r>
              <a:t>    [SupplyParameterFromTempData]</a:t>
            </a:r>
            <a:br/>
            <a:r>
              <a:t>    public string? StatusMessage { get; set; }</a:t>
            </a:r>
            <a:br/>
            <a: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27. EF Core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Complex types everywhere: TPT/TPC, Cosmos DB, keys, indexes and JSON indexes (detailed next).</a:t>
            </a:r>
          </a:p>
          <a:p>
            <a:pPr>
              <a:spcAft>
                <a:spcPts val="1000"/>
              </a:spcAft>
              <a:defRPr sz="1100">
                <a:solidFill>
                  <a:srgbClr val="0F172A"/>
                </a:solidFill>
                <a:latin typeface="Segoe UI"/>
              </a:defRPr>
            </a:pPr>
            <a:r>
              <a:t>•  Leaner SQL: fewer JOINs in split queries, shorter ORDER BY, no-op CAST removal (detailed).</a:t>
            </a:r>
          </a:p>
          <a:p>
            <a:pPr>
              <a:spcAft>
                <a:spcPts val="1000"/>
              </a:spcAft>
              <a:defRPr sz="1100">
                <a:solidFill>
                  <a:srgbClr val="0F172A"/>
                </a:solidFill>
                <a:latin typeface="Segoe UI"/>
              </a:defRPr>
            </a:pPr>
            <a:r>
              <a:t>•  Vector search on SQL Server 2025: HasVectorIndex, VectorSearch + WithApproximate; vectors left out of SELECT (up to 22x faster).</a:t>
            </a:r>
          </a:p>
          <a:p>
            <a:pPr>
              <a:spcAft>
                <a:spcPts val="1000"/>
              </a:spcAft>
              <a:defRPr sz="1100">
                <a:solidFill>
                  <a:srgbClr val="0F172A"/>
                </a:solidFill>
                <a:latin typeface="Segoe UI"/>
              </a:defRPr>
            </a:pPr>
            <a:r>
              <a:t>•  Full-text search in migrations, FreeTextTable/ContainsTable with Rank, hybrid search with Reciprocal Rank Fusion.</a:t>
            </a:r>
          </a:p>
          <a:p>
            <a:pPr>
              <a:spcAft>
                <a:spcPts val="1000"/>
              </a:spcAft>
              <a:defRPr sz="1100">
                <a:solidFill>
                  <a:srgbClr val="0F172A"/>
                </a:solidFill>
                <a:latin typeface="Segoe UI"/>
              </a:defRPr>
            </a:pPr>
            <a:r>
              <a:t>•  LINQ translation: FullJoin to FULL JOIN, MaxByAsync/MinByAsync, GroupBy over navigations without subqueries.</a:t>
            </a:r>
          </a:p>
          <a:p>
            <a:pPr>
              <a:spcAft>
                <a:spcPts val="1000"/>
              </a:spcAft>
              <a:defRPr sz="1100">
                <a:solidFill>
                  <a:srgbClr val="0F172A"/>
                </a:solidFill>
                <a:latin typeface="Segoe UI"/>
              </a:defRPr>
            </a:pPr>
            <a:r>
              <a:t>•  JSON_CONTAINS, JsonPathExists/JsonContains, CLR properties for temporal periods, ordered group_concat in SQLite.</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Vector index + approximate nearest neighbor search</a:t>
            </a:r>
            <a:br/>
            <a:r>
              <a:t>modelBuilder.Entity&lt;Article&gt;()</a:t>
            </a:r>
            <a:br/>
            <a:r>
              <a:t>    .HasVectorIndex(a =&gt; a.Embedding, "cosine");</a:t>
            </a:r>
            <a:br/>
            <a:br/>
            <a:r>
              <a:t>var similar = await db.Articles</a:t>
            </a:r>
            <a:br/>
            <a:r>
              <a:t>    .VectorSearch(a =&gt; a.Embedding, queryVector, "cosine")</a:t>
            </a:r>
            <a:br/>
            <a:r>
              <a:t>    .OrderBy(r =&gt; r.Distance)</a:t>
            </a:r>
            <a:br/>
            <a:r>
              <a:t>    .Take(5)</a:t>
            </a:r>
            <a:br/>
            <a:r>
              <a:t>    .WithApproximate()</a:t>
            </a:r>
            <a:br/>
            <a:r>
              <a:t>    .ToListAsync();</a:t>
            </a:r>
            <a:br/>
            <a:br/>
            <a:r>
              <a:t>// Whole entity with the max value, computed in SQL</a:t>
            </a:r>
            <a:br/>
            <a:r>
              <a:t>var topBlog = await db.Blogs.MaxByAsync(b =&gt; b.Posts.Count(), ct);</a:t>
            </a:r>
            <a:br/>
            <a:br/>
            <a:r>
              <a:t>// LINQ FullJoin -&gt; SQL FULL JOIN</a:t>
            </a:r>
            <a:br/>
            <a:r>
              <a:t>var audit = db.Customers.FullJoin(db.Orders,</a:t>
            </a:r>
            <a:br/>
            <a:r>
              <a:t>    c =&gt; c.Id, o =&gt; o.CustomerId, (c, o) =&gt; new { c, o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30. .NET MAUI 11 at a Glance</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In this section:</a:t>
            </a:r>
          </a:p>
          <a:p>
            <a:pPr>
              <a:spcAft>
                <a:spcPts val="1000"/>
              </a:spcAft>
              <a:defRPr sz="1100">
                <a:solidFill>
                  <a:srgbClr val="0F172A"/>
                </a:solidFill>
                <a:latin typeface="Segoe UI"/>
              </a:defRPr>
            </a:pPr>
            <a:r>
              <a:t>•  CoreCLR replaces Mono as the default runtime; dotnet test runs on devices (detailed next).</a:t>
            </a:r>
          </a:p>
          <a:p>
            <a:pPr>
              <a:spcAft>
                <a:spcPts val="1000"/>
              </a:spcAft>
              <a:defRPr sz="1100">
                <a:solidFill>
                  <a:srgbClr val="0F172A"/>
                </a:solidFill>
                <a:latin typeface="Segoe UI"/>
              </a:defRPr>
            </a:pPr>
            <a:r>
              <a:t>•  XAML: incremental Hot Reload, implicit namespaces, x:Code, lazy ResourceDictionary (detailed).</a:t>
            </a:r>
          </a:p>
          <a:p>
            <a:pPr>
              <a:spcAft>
                <a:spcPts val="1000"/>
              </a:spcAft>
              <a:defRPr sz="1100">
                <a:solidFill>
                  <a:srgbClr val="0F172A"/>
                </a:solidFill>
                <a:latin typeface="Segoe UI"/>
              </a:defRPr>
            </a:pPr>
            <a:r>
              <a:t>•  Experimental platform backends: macOS AppKit, Linux GTK4, Windows WPF (detailed).</a:t>
            </a:r>
          </a:p>
          <a:p>
            <a:pPr>
              <a:spcAft>
                <a:spcPts val="1000"/>
              </a:spcAft>
              <a:defRPr sz="1100">
                <a:solidFill>
                  <a:srgbClr val="0F172A"/>
                </a:solidFill>
                <a:latin typeface="Segoe UI"/>
              </a:defRPr>
            </a:pPr>
            <a:r>
              <a:t>•  Controls: Material 3 on Android, gradient BoxView.Fill, LongPressGestureRecognizer, tab badges.</a:t>
            </a:r>
          </a:p>
          <a:p>
            <a:pPr>
              <a:spcAft>
                <a:spcPts val="1000"/>
              </a:spcAft>
              <a:defRPr sz="1100">
                <a:solidFill>
                  <a:srgbClr val="0F172A"/>
                </a:solidFill>
                <a:latin typeface="Segoe UI"/>
              </a:defRPr>
            </a:pPr>
            <a:r>
              <a:t>•  Maps: pin clustering, custom pin icons, clickable shapes, Azure Maps on Windows.</a:t>
            </a:r>
          </a:p>
          <a:p>
            <a:pPr>
              <a:spcAft>
                <a:spcPts val="1000"/>
              </a:spcAft>
              <a:defRPr sz="1100">
                <a:solidFill>
                  <a:srgbClr val="0F172A"/>
                </a:solidFill>
                <a:latin typeface="Segoe UI"/>
              </a:defRPr>
            </a:pPr>
            <a:r>
              <a:t>•  Passkeys (WebAuthn/FIDO2), Shell route templates, cancellable animations.</a:t>
            </a:r>
          </a:p>
          <a:p>
            <a:pPr>
              <a:spcAft>
                <a:spcPts val="1000"/>
              </a:spcAft>
              <a:defRPr sz="1100">
                <a:solidFill>
                  <a:srgbClr val="0F172A"/>
                </a:solidFill>
                <a:latin typeface="Segoe UI"/>
              </a:defRPr>
            </a:pPr>
            <a:r>
              <a:t>•  Hybrid apps: AOT-safe HybridWebView bridge, BlazorWebView asset caching; MediaPicker and splash-screen updates.</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Passwordless sign-in with platform biometrics</a:t>
            </a:r>
            <a:br/>
            <a:r>
              <a:t>if (Passkeys.IsSupported)</a:t>
            </a:r>
            <a:br/>
            <a:r>
              <a:t>{</a:t>
            </a:r>
            <a:br/>
            <a:r>
              <a:t>    string assertion =</a:t>
            </a:r>
            <a:br/>
            <a:r>
              <a:t>        await Passkeys.AssertAsync(challengeJson, ct);</a:t>
            </a:r>
            <a:br/>
            <a:r>
              <a:t>    await api.VerifyPasskeyAsync(assertion, ct);</a:t>
            </a:r>
            <a:br/>
            <a:r>
              <a:t>}</a:t>
            </a:r>
            <a:br/>
            <a:br/>
            <a:r>
              <a:t>// Shell routes with path parameters</a:t>
            </a:r>
            <a:br/>
            <a:r>
              <a:t>Routing.RegisterRoute("orders/{orderId}", typeof(OrderPage));</a:t>
            </a:r>
            <a:br/>
            <a:r>
              <a:t>await Shell.Current.GoToAsync("//shop/orders/ORD-90210");</a:t>
            </a:r>
            <a:br/>
            <a:br/>
            <a:r>
              <a:t>// Map pin clustering</a:t>
            </a:r>
            <a:br/>
            <a:r>
              <a:t>var map = new Map { IsClusteringEnabled = true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777240"/>
          </a:xfrm>
          <a:prstGeom prst="rect">
            <a:avLst/>
          </a:prstGeom>
          <a:noFill/>
        </p:spPr>
        <p:txBody>
          <a:bodyPr wrap="square" lIns="0" tIns="0" rIns="0" bIns="0">
            <a:spAutoFit/>
          </a:bodyPr>
          <a:lstStyle/>
          <a:p>
            <a:pPr>
              <a:defRPr sz="2000" b="1">
                <a:solidFill>
                  <a:srgbClr val="0F172A"/>
                </a:solidFill>
                <a:latin typeface="Segoe UI"/>
              </a:defRPr>
            </a:pPr>
            <a:r>
              <a:t>33. .NET MAUI: Experimental Platform Backends - macOS AppKit, Linux GTK4, Windows WPF</a:t>
            </a:r>
          </a:p>
        </p:txBody>
      </p:sp>
      <p:sp>
        <p:nvSpPr>
          <p:cNvPr id="4" name="Rounded Rectangle 3"/>
          <p:cNvSpPr/>
          <p:nvPr/>
        </p:nvSpPr>
        <p:spPr>
          <a:xfrm>
            <a:off x="731520" y="1417320"/>
            <a:ext cx="539496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ctr">
              <a:spcAft>
                <a:spcPts val="1200"/>
              </a:spcAft>
              <a:defRPr sz="1300" b="1">
                <a:solidFill>
                  <a:srgbClr val="1E3A8A"/>
                </a:solidFill>
                <a:latin typeface="Segoe UI"/>
              </a:defRPr>
            </a:pPr>
            <a:r>
              <a:t>Key concepts:</a:t>
            </a:r>
          </a:p>
          <a:p>
            <a:pPr>
              <a:spcAft>
                <a:spcPts val="1000"/>
              </a:spcAft>
              <a:defRPr sz="1100">
                <a:solidFill>
                  <a:srgbClr val="0F172A"/>
                </a:solidFill>
                <a:latin typeface="Segoe UI"/>
              </a:defRPr>
            </a:pPr>
            <a:r>
              <a:t>•  Official targets stay the same: Android, iOS, Mac Catalyst and Windows (WinUI).</a:t>
            </a:r>
          </a:p>
          <a:p>
            <a:pPr>
              <a:spcAft>
                <a:spcPts val="1000"/>
              </a:spcAft>
              <a:defRPr sz="1100">
                <a:solidFill>
                  <a:srgbClr val="0F172A"/>
                </a:solidFill>
                <a:latin typeface="Segoe UI"/>
              </a:defRPr>
            </a:pPr>
            <a:r>
              <a:t>•  The dotnet/maui-labs repository hosts experimental backends that run existing MAUI apps natively on more platforms.</a:t>
            </a:r>
          </a:p>
          <a:p>
            <a:pPr>
              <a:spcAft>
                <a:spcPts val="1000"/>
              </a:spcAft>
              <a:defRPr sz="1100">
                <a:solidFill>
                  <a:srgbClr val="0F172A"/>
                </a:solidFill>
                <a:latin typeface="Segoe UI"/>
              </a:defRPr>
            </a:pPr>
            <a:r>
              <a:t>•  macOS AppKit (Microsoft.Maui.Platforms.MacOS, macOS 14+): a native AppKit app instead of Mac Catalyst.</a:t>
            </a:r>
          </a:p>
          <a:p>
            <a:pPr>
              <a:spcAft>
                <a:spcPts val="1000"/>
              </a:spcAft>
              <a:defRPr sz="1100">
                <a:solidFill>
                  <a:srgbClr val="0F172A"/>
                </a:solidFill>
                <a:latin typeface="Segoe UI"/>
              </a:defRPr>
            </a:pPr>
            <a:r>
              <a:t>•  Linux GTK4 (Microsoft.Maui.Platforms.Linux.Gtk4): Linux desktop, which MAUI does not target officially.</a:t>
            </a:r>
          </a:p>
          <a:p>
            <a:pPr>
              <a:spcAft>
                <a:spcPts val="1000"/>
              </a:spcAft>
              <a:defRPr sz="1100">
                <a:solidFill>
                  <a:srgbClr val="0F172A"/>
                </a:solidFill>
                <a:latin typeface="Segoe UI"/>
              </a:defRPr>
            </a:pPr>
            <a:r>
              <a:t>•  Windows WPF (Microsoft.Maui.Platforms.Windows.WPF): an alternative Windows backend to WinUI.</a:t>
            </a:r>
          </a:p>
          <a:p>
            <a:pPr>
              <a:spcAft>
                <a:spcPts val="1000"/>
              </a:spcAft>
              <a:defRPr sz="1100">
                <a:solidFill>
                  <a:srgbClr val="0F172A"/>
                </a:solidFill>
                <a:latin typeface="Segoe UI"/>
              </a:defRPr>
            </a:pPr>
            <a:r>
              <a:t>•  Experimental and community-supported: APIs change between releases and Microsoft does not officially support them.</a:t>
            </a:r>
          </a:p>
        </p:txBody>
      </p:sp>
      <p:sp>
        <p:nvSpPr>
          <p:cNvPr id="5" name="Rounded Rectangle 4"/>
          <p:cNvSpPr/>
          <p:nvPr/>
        </p:nvSpPr>
        <p:spPr>
          <a:xfrm>
            <a:off x="6309360" y="1417320"/>
            <a:ext cx="5150815" cy="4937760"/>
          </a:xfrm>
          <a:prstGeom prst="roundRect">
            <a:avLst/>
          </a:prstGeom>
          <a:solidFill>
            <a:srgbClr val="18181B"/>
          </a:solidFill>
          <a:ln w="19050">
            <a:solidFill>
              <a:srgbClr val="3F3F46"/>
            </a:solidFill>
          </a:ln>
        </p:spPr>
        <p:style>
          <a:lnRef idx="1">
            <a:schemeClr val="accent1"/>
          </a:lnRef>
          <a:fillRef idx="3">
            <a:schemeClr val="accent1"/>
          </a:fillRef>
          <a:effectRef idx="2">
            <a:schemeClr val="accent1"/>
          </a:effectRef>
          <a:fontRef idx="minor">
            <a:schemeClr val="lt1"/>
          </a:fontRef>
        </p:style>
        <p:txBody>
          <a:bodyPr wrap="square" lIns="320040" tIns="274320" rIns="320040" bIns="274320" rtlCol="0" anchor="ctr"/>
          <a:lstStyle/>
          <a:p>
            <a:pPr algn="ctr">
              <a:spcAft>
                <a:spcPts val="800"/>
              </a:spcAft>
              <a:defRPr sz="1100" b="1">
                <a:solidFill>
                  <a:srgbClr val="A1A1AA"/>
                </a:solidFill>
                <a:latin typeface="Segoe UI"/>
              </a:defRPr>
            </a:pPr>
            <a:r>
              <a:t>C# 15 / .NET 11 Ecosystem:</a:t>
            </a:r>
          </a:p>
          <a:p>
            <a:pPr>
              <a:defRPr sz="950">
                <a:solidFill>
                  <a:srgbClr val="E4E4E7"/>
                </a:solidFill>
                <a:latin typeface="Consolas"/>
              </a:defRPr>
            </a:pPr>
            <a:r>
              <a:t># macOS (AppKit)</a:t>
            </a:r>
            <a:br/>
            <a:r>
              <a:t>dotnet new install --prerelease </a:t>
            </a:r>
            <a:br/>
            <a:r>
              <a:t>    Microsoft.Maui.Platforms.MacOS.Templates</a:t>
            </a:r>
            <a:br/>
            <a:r>
              <a:t>dotnet new maui-macos -n MyApp.MacOS</a:t>
            </a:r>
            <a:br/>
            <a:br/>
            <a:r>
              <a:t># Linux (GTK4)</a:t>
            </a:r>
            <a:br/>
            <a:r>
              <a:t>dotnet new install --prerelease </a:t>
            </a:r>
            <a:br/>
            <a:r>
              <a:t>    Microsoft.Maui.Platforms.Linux.Gtk4.Templates</a:t>
            </a:r>
            <a:br/>
            <a:r>
              <a:t>dotnet new maui-linux-gtk4 -n MyApp.Linux</a:t>
            </a:r>
            <a:br/>
            <a:br/>
            <a:r>
              <a:t># Windows (WPF)</a:t>
            </a:r>
            <a:br/>
            <a:r>
              <a:t>dotnet new install --prerelease </a:t>
            </a:r>
            <a:br/>
            <a:r>
              <a:t>    Microsoft.Maui.Platforms.Windows.WPF.Templates</a:t>
            </a:r>
            <a:br/>
            <a:r>
              <a:t>dotnet new maui-wpf -n MyApp.WPF</a:t>
            </a:r>
            <a:br/>
            <a:br/>
            <a:r>
              <a:t># Source and issues: github.com/dotnet/maui-labs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986</TotalTime>
  <Words>32291</Words>
  <Application>Microsoft Office PowerPoint</Application>
  <PresentationFormat>Widescreen</PresentationFormat>
  <Paragraphs>470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Антонюк Владислав Андрійович</cp:lastModifiedBy>
  <cp:revision>3</cp:revision>
  <dcterms:created xsi:type="dcterms:W3CDTF">2013-01-27T09:14:16Z</dcterms:created>
  <dcterms:modified xsi:type="dcterms:W3CDTF">2026-10-20T07:02:45Z</dcterms:modified>
  <cp:category/>
</cp:coreProperties>
</file>